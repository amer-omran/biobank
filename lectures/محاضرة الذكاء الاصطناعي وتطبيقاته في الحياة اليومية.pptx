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بالطلاب واسألهم: من استخدم الذكاء الاصطناعي اليوم؟ معظمهم سيقول لا، ثم بيّن أنهم استخدموه فعلاً عبر الهاتف والتطبيقات دون أن يشعروا. هذه المحاضرة تشرح ما هو الذكاء الاصطناعي، وأين نقابله يومياً، وكيف نستخدمه بذكاء ومسؤولية.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 المصطلح ببساطة ثم ركّز على التشبيه: نحن لا نبرمج كل قاعدة، بل نعطي الحاسوب أمثلة كثيرة ليكتشف الأنماط بنفسه. أكد أن الأمر ليس سحراً بل رياضيات وإحصاء وبيانات.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الخط الزمني من اليمين إلى اليسار. الرسالة الأساسية: الفكرة قديمة منذ الخمسينيات، لكن ثلاثة عوامل حديثة فجّرتها: البيانات الضخمة، وقوة المعالجة (خصوصاً معالجات الرسوميات)، وتحسن الخوارزميات مثل الشبكات العصبية العميقة.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اشرح الدورة بمثال عملي: لتعليم النظام تمييز صور القطط، نعطيه آلاف الصور المصنفة (بيانات)، يتدرب ليكتشف الملامح المشتركة (تدريب)، يخزنها في نموذج، ثم يتعرف على قطة في صورة لم يرها من قبل (تنبؤ). اذكر أن ChatGPT تدرب بالطريقة نفسها لكن على نصوص هائلة لتوقع الكلمة التالية.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اشرح العلاقة الهرمية بالدوائر المتداخلة: الذكاء الاصطناعي هو المفهوم الشامل، وتعلم الآلة طريقة لتحقيقه عبر التعلم من البيانات، والتعلم العميق نوع متقدم من تعلم الآلة يعتمد على شبكات عصبية متعددة الطبقات وهو وراء الطفرة الحالية. مثال للتوضيح: نظام خبير قديم بقواعد مكتوبة يدوياً هو ذكاء اصطناعي لكنه ليس تعلم آلة.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صحح المفهوم الشائع: ما نراه في الأفلام (روبوتات واعية) هو الذكاء العام، وهو غير موجود بعد. كل التطبيقات الحالية إما ذكاء ضيق متخصص أو ذكاء توليدي ينتج محتوى. هذا التمييز يساعد الطلاب على تقييم الأخبار المبالغ فيها.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الطلاب فتح هواتفهم ذهنياً: كل ميزة من هذه الأربع تعمل بنموذج ذكاء اصطناعي مدرَّب. مثال جيد للنقاش: كيف تعرف الخرائط أن الطريق مزدحم؟ (من سرعة حركة هواتف المستخدمين الآخرين على الطريق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نقطة نقاش مهمة: الخوارزمية تتعلم منك لتبقيك أطول وقتاً — وهذا سيف ذو حدين: اقتراحات ممتازة، لكنه قد يحبسك في «فقاعة» محتوى متشابه. اسأل الطلاب: هل لاحظتم أن التطبيق يعرف اهتماماتكم؟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أهم شريحة للطلاب عملياً. وازن بين الفائدة الحقيقية (معلم خصوصي متاح دائماً) والمخاطر (الهلوسة، الغش، ضمور مهارة التفكير). أعطِ مثالاً: اطلب من النموذج أن يشرح لك خطوة بخطوة ثم حل مسألة مشابهة بنفسك.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قصة AlphaFold ملهمة للطلاب المهتمين بالطب والصيدلة: حصل مطوروه على جائزة نوبل في الكيمياء 2024. أكد أن هذه الأنظمة أدوات مساعدة تحت إشراف بشري، والمسؤولية النهائية للطبيب.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اربط بالواقع المحلي: هل توجد سيارات بمساعد قيادة في بلدكم؟ إشارات مرور ذكية؟ حتى تطبيقات التوصيل تستخدم الذكاء الاصطناعي لتوزيع الطلبات وتقدير وقت الوصول.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خصص وقتاً للنقاش هنا. أمثلة: خوارزمية توظيف تعلمت من بيانات متحيزة فرفضت فئة من المتقدمين؛ فيديو مزيف لشخصية عامة انتشر قبل تكذيبه. الرسالة: كن مستخدماً واعياً وناقداً، لا مستهلكاً سلبياً.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رسالة تحفيزية: الذكاء الاصطناعي لن يستبدل معظم الوظائف، لكن من يجيد استخدامه سيتفوق على من لا يجيده. شجع الطلاب على تجربة أدوات مجانية وتعلم Python عبر منصات مفتوحة، وذكّرهم أن كل التخصصات ستحتاج هذه المهارات وليس الحاسوب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اختم بالرسائل الثلاث ثم افتح باب النقاش. أسئلة مقترحة للنقاش: ما التطبيق الذي فاجأكم أنه يستخدم الذكاء الاصطناعي؟ أين ترون حدود استخدامه في الدراسة؟ ما المهارة التي ستبدؤون بتعلمها؟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2"/>
        </a:solidFill>
      </p:bgPr>
    </p:bg>
    <p:spTree>
      <p:nvGrpSpPr>
        <p:cNvPr id="1" name=""/>
        <p:cNvGrpSpPr/>
        <p:nvPr/>
      </p:nvGrpSpPr>
      <p:grpSpPr>
        <a:xfrm>
          <a:off x="0" y="0"/>
          <a:ext cx="0" cy="0"/>
          <a:chOff x="0" y="0"/>
          <a:chExt cx="0" cy="0"/>
        </a:xfrm>
      </p:grpSpPr>
      <p:sp>
        <p:nvSpPr>
          <p:cNvPr id="2" name="Shape 0"/>
          <p:cNvSpPr/>
          <p:nvPr/>
        </p:nvSpPr>
        <p:spPr>
          <a:xfrm>
            <a:off x="640080" y="1051560"/>
            <a:ext cx="3931920" cy="3931920"/>
          </a:xfrm>
          <a:prstGeom prst="ellipse">
            <a:avLst/>
          </a:prstGeom>
          <a:solidFill>
            <a:srgbClr val="028090">
              <a:alpha val="45000"/>
            </a:srgbClr>
          </a:solidFill>
          <a:ln/>
        </p:spPr>
      </p:sp>
      <p:sp>
        <p:nvSpPr>
          <p:cNvPr id="3" name="Shape 1"/>
          <p:cNvSpPr/>
          <p:nvPr/>
        </p:nvSpPr>
        <p:spPr>
          <a:xfrm>
            <a:off x="1143000" y="1554480"/>
            <a:ext cx="2926080" cy="2926080"/>
          </a:xfrm>
          <a:prstGeom prst="ellipse">
            <a:avLst/>
          </a:prstGeom>
          <a:solidFill>
            <a:srgbClr val="028090"/>
          </a:solidFill>
          <a:ln/>
        </p:spPr>
      </p:sp>
      <p:pic>
        <p:nvPicPr>
          <p:cNvPr id="4" name="Image 0" descr="preencoded.png">    </p:cNvPr>
          <p:cNvPicPr>
            <a:picLocks noChangeAspect="1"/>
          </p:cNvPicPr>
          <p:nvPr/>
        </p:nvPicPr>
        <p:blipFill>
          <a:blip r:embed="rId1"/>
          <a:stretch>
            <a:fillRect/>
          </a:stretch>
        </p:blipFill>
        <p:spPr>
          <a:xfrm>
            <a:off x="1874520" y="2286000"/>
            <a:ext cx="1463040" cy="1463040"/>
          </a:xfrm>
          <a:prstGeom prst="rect">
            <a:avLst/>
          </a:prstGeom>
        </p:spPr>
      </p:pic>
      <p:sp>
        <p:nvSpPr>
          <p:cNvPr id="5" name="Shape 2"/>
          <p:cNvSpPr/>
          <p:nvPr/>
        </p:nvSpPr>
        <p:spPr>
          <a:xfrm>
            <a:off x="3977640" y="1143000"/>
            <a:ext cx="777240" cy="777240"/>
          </a:xfrm>
          <a:prstGeom prst="ellipse">
            <a:avLst/>
          </a:prstGeom>
          <a:solidFill>
            <a:srgbClr val="02C39A"/>
          </a:solidFill>
          <a:ln/>
        </p:spPr>
      </p:sp>
      <p:pic>
        <p:nvPicPr>
          <p:cNvPr id="6" name="Image 1" descr="preencoded.png">    </p:cNvPr>
          <p:cNvPicPr>
            <a:picLocks noChangeAspect="1"/>
          </p:cNvPicPr>
          <p:nvPr/>
        </p:nvPicPr>
        <p:blipFill>
          <a:blip r:embed="rId2"/>
          <a:stretch>
            <a:fillRect/>
          </a:stretch>
        </p:blipFill>
        <p:spPr>
          <a:xfrm>
            <a:off x="4179722" y="1345082"/>
            <a:ext cx="373075" cy="373075"/>
          </a:xfrm>
          <a:prstGeom prst="rect">
            <a:avLst/>
          </a:prstGeom>
        </p:spPr>
      </p:pic>
      <p:sp>
        <p:nvSpPr>
          <p:cNvPr id="7" name="Shape 3"/>
          <p:cNvSpPr/>
          <p:nvPr/>
        </p:nvSpPr>
        <p:spPr>
          <a:xfrm>
            <a:off x="502920" y="4023360"/>
            <a:ext cx="777240" cy="777240"/>
          </a:xfrm>
          <a:prstGeom prst="ellipse">
            <a:avLst/>
          </a:prstGeom>
          <a:solidFill>
            <a:srgbClr val="00A896"/>
          </a:solidFill>
          <a:ln/>
        </p:spPr>
      </p:sp>
      <p:pic>
        <p:nvPicPr>
          <p:cNvPr id="8" name="Image 2" descr="preencoded.png">    </p:cNvPr>
          <p:cNvPicPr>
            <a:picLocks noChangeAspect="1"/>
          </p:cNvPicPr>
          <p:nvPr/>
        </p:nvPicPr>
        <p:blipFill>
          <a:blip r:embed="rId3"/>
          <a:stretch>
            <a:fillRect/>
          </a:stretch>
        </p:blipFill>
        <p:spPr>
          <a:xfrm>
            <a:off x="705002" y="4225442"/>
            <a:ext cx="373075" cy="373075"/>
          </a:xfrm>
          <a:prstGeom prst="rect">
            <a:avLst/>
          </a:prstGeom>
        </p:spPr>
      </p:pic>
      <p:sp>
        <p:nvSpPr>
          <p:cNvPr id="9" name="Shape 4"/>
          <p:cNvSpPr/>
          <p:nvPr/>
        </p:nvSpPr>
        <p:spPr>
          <a:xfrm>
            <a:off x="4206240" y="4343400"/>
            <a:ext cx="685800" cy="685800"/>
          </a:xfrm>
          <a:prstGeom prst="ellipse">
            <a:avLst/>
          </a:prstGeom>
          <a:solidFill>
            <a:srgbClr val="02C39A"/>
          </a:solidFill>
          <a:ln/>
        </p:spPr>
      </p:sp>
      <p:pic>
        <p:nvPicPr>
          <p:cNvPr id="10" name="Image 3" descr="preencoded.png">    </p:cNvPr>
          <p:cNvPicPr>
            <a:picLocks noChangeAspect="1"/>
          </p:cNvPicPr>
          <p:nvPr/>
        </p:nvPicPr>
        <p:blipFill>
          <a:blip r:embed="rId4"/>
          <a:stretch>
            <a:fillRect/>
          </a:stretch>
        </p:blipFill>
        <p:spPr>
          <a:xfrm>
            <a:off x="4384548" y="4521708"/>
            <a:ext cx="329184" cy="329184"/>
          </a:xfrm>
          <a:prstGeom prst="rect">
            <a:avLst/>
          </a:prstGeom>
        </p:spPr>
      </p:pic>
      <p:sp>
        <p:nvSpPr>
          <p:cNvPr id="11" name="Text 5"/>
          <p:cNvSpPr/>
          <p:nvPr/>
        </p:nvSpPr>
        <p:spPr>
          <a:xfrm>
            <a:off x="5394960" y="1691640"/>
            <a:ext cx="6217920" cy="1051560"/>
          </a:xfrm>
          <a:prstGeom prst="rect">
            <a:avLst/>
          </a:prstGeom>
          <a:noFill/>
          <a:ln/>
        </p:spPr>
        <p:txBody>
          <a:bodyPr wrap="square" rtlCol="0" anchor="ctr"/>
          <a:lstStyle/>
          <a:p>
            <a:pPr rtl="1" algn="r" indent="0" marL="0">
              <a:buNone/>
            </a:pPr>
            <a:r>
              <a:rPr lang="ar-SA" altLang="en-US" sz="5400" b="1" dirty="0">
                <a:solidFill>
                  <a:srgbClr val="FFFFFF"/>
                </a:solidFill>
                <a:latin typeface="Arial" pitchFamily="34" charset="0"/>
                <a:ea typeface="Arial" pitchFamily="34" charset="-122"/>
                <a:cs typeface="Arial" pitchFamily="34" charset="-120"/>
              </a:rPr>
              <a:t>الذكاء الاصطناعي</a:t>
            </a:r>
            <a:endParaRPr lang="ar-SA" sz="5400" dirty="0"/>
          </a:p>
        </p:txBody>
      </p:sp>
      <p:sp>
        <p:nvSpPr>
          <p:cNvPr id="12" name="Text 6"/>
          <p:cNvSpPr/>
          <p:nvPr/>
        </p:nvSpPr>
        <p:spPr>
          <a:xfrm>
            <a:off x="5394960" y="2788920"/>
            <a:ext cx="6217920" cy="685800"/>
          </a:xfrm>
          <a:prstGeom prst="rect">
            <a:avLst/>
          </a:prstGeom>
          <a:noFill/>
          <a:ln/>
        </p:spPr>
        <p:txBody>
          <a:bodyPr wrap="square" rtlCol="0" anchor="ctr"/>
          <a:lstStyle/>
          <a:p>
            <a:pPr rtl="1" algn="r" indent="0" marL="0">
              <a:buNone/>
            </a:pPr>
            <a:r>
              <a:rPr lang="ar-SA" altLang="en-US" sz="3000" b="1" dirty="0">
                <a:solidFill>
                  <a:srgbClr val="02C39A"/>
                </a:solidFill>
                <a:latin typeface="Arial" pitchFamily="34" charset="0"/>
                <a:ea typeface="Arial" pitchFamily="34" charset="-122"/>
                <a:cs typeface="Arial" pitchFamily="34" charset="-120"/>
              </a:rPr>
              <a:t>وتطبيقاته في حياتنا اليومية</a:t>
            </a:r>
            <a:endParaRPr lang="ar-SA" sz="3000" dirty="0"/>
          </a:p>
        </p:txBody>
      </p:sp>
      <p:sp>
        <p:nvSpPr>
          <p:cNvPr id="13" name="Text 7"/>
          <p:cNvSpPr/>
          <p:nvPr/>
        </p:nvSpPr>
        <p:spPr>
          <a:xfrm>
            <a:off x="5394960" y="3657600"/>
            <a:ext cx="6217920" cy="457200"/>
          </a:xfrm>
          <a:prstGeom prst="rect">
            <a:avLst/>
          </a:prstGeom>
          <a:noFill/>
          <a:ln/>
        </p:spPr>
        <p:txBody>
          <a:bodyPr wrap="square" rtlCol="0" anchor="ctr"/>
          <a:lstStyle/>
          <a:p>
            <a:pPr rtl="1" algn="r" indent="0" marL="0">
              <a:buNone/>
            </a:pPr>
            <a:r>
              <a:rPr lang="ar-SA" altLang="en-US" sz="1700" dirty="0">
                <a:solidFill>
                  <a:srgbClr val="CDE9E5"/>
                </a:solidFill>
                <a:latin typeface="Arial" pitchFamily="34" charset="0"/>
                <a:ea typeface="Arial" pitchFamily="34" charset="-122"/>
                <a:cs typeface="Arial" pitchFamily="34" charset="-120"/>
              </a:rPr>
              <a:t>محاضرة تعريفية لطلاب المرحلة الثانوية والجامعية</a:t>
            </a:r>
            <a:endParaRPr lang="ar-SA" sz="1700" dirty="0"/>
          </a:p>
        </p:txBody>
      </p:sp>
      <p:sp>
        <p:nvSpPr>
          <p:cNvPr id="14" name="Text 8"/>
          <p:cNvSpPr/>
          <p:nvPr/>
        </p:nvSpPr>
        <p:spPr>
          <a:xfrm>
            <a:off x="5394960" y="4160520"/>
            <a:ext cx="6217920" cy="457200"/>
          </a:xfrm>
          <a:prstGeom prst="rect">
            <a:avLst/>
          </a:prstGeom>
          <a:noFill/>
          <a:ln/>
        </p:spPr>
        <p:txBody>
          <a:bodyPr wrap="square" rtlCol="0" anchor="ctr"/>
          <a:lstStyle/>
          <a:p>
            <a:pPr rtl="1" algn="r" indent="0" marL="0">
              <a:buNone/>
            </a:pPr>
            <a:r>
              <a:rPr lang="ar-SA" altLang="en-US" sz="1400" i="1" dirty="0">
                <a:solidFill>
                  <a:srgbClr val="9FC4BE"/>
                </a:solidFill>
                <a:latin typeface="Arial" pitchFamily="34" charset="0"/>
                <a:ea typeface="Arial" pitchFamily="34" charset="-122"/>
                <a:cs typeface="Arial" pitchFamily="34" charset="-120"/>
              </a:rPr>
              <a:t>من هاتفك إلى المستشفى… كيف تعمل هذه التقنية حولنا؟</a:t>
            </a:r>
            <a:endParaRPr lang="ar-SA"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ما هو الذكاء الاصطناعي؟</a:t>
            </a:r>
            <a:endParaRPr lang="ar-SA" sz="3100" dirty="0"/>
          </a:p>
        </p:txBody>
      </p:sp>
      <p:sp>
        <p:nvSpPr>
          <p:cNvPr id="5" name="Text 2"/>
          <p:cNvSpPr/>
          <p:nvPr/>
        </p:nvSpPr>
        <p:spPr>
          <a:xfrm>
            <a:off x="5029200" y="1371600"/>
            <a:ext cx="6583680" cy="1600200"/>
          </a:xfrm>
          <a:prstGeom prst="rect">
            <a:avLst/>
          </a:prstGeom>
          <a:noFill/>
          <a:ln/>
        </p:spPr>
        <p:txBody>
          <a:bodyPr wrap="square" rtlCol="0" anchor="ctr"/>
          <a:lstStyle/>
          <a:p>
            <a:pPr rtl="1" algn="r" indent="0" marL="0">
              <a:lnSpc>
                <a:spcPct val="125000"/>
              </a:lnSpc>
              <a:buNone/>
            </a:pPr>
            <a:r>
              <a:rPr lang="ar-SA" altLang="en-US" sz="1700" dirty="0">
                <a:solidFill>
                  <a:srgbClr val="16323A"/>
                </a:solidFill>
                <a:latin typeface="Arial" pitchFamily="34" charset="0"/>
                <a:ea typeface="Arial" pitchFamily="34" charset="-122"/>
                <a:cs typeface="Arial" pitchFamily="34" charset="-120"/>
              </a:rPr>
              <a:t>الذكاء الاصطناعي (Artificial Intelligence) هو فرع من علوم الحاسوب يهدف إلى بناء أنظمة قادرة على أداء مهام تتطلب عادةً ذكاءً بشرياً، مثل التعلم من الخبرة، وفهم اللغة، والتعرف على الصور، واتخاذ القرارات.</a:t>
            </a:r>
            <a:endParaRPr lang="ar-SA" sz="1700" dirty="0"/>
          </a:p>
        </p:txBody>
      </p:sp>
      <p:sp>
        <p:nvSpPr>
          <p:cNvPr id="6" name="Shape 3"/>
          <p:cNvSpPr/>
          <p:nvPr/>
        </p:nvSpPr>
        <p:spPr>
          <a:xfrm>
            <a:off x="5029200" y="3200400"/>
            <a:ext cx="6583680" cy="1737360"/>
          </a:xfrm>
          <a:prstGeom prst="roundRect">
            <a:avLst>
              <a:gd name="adj" fmla="val 6316"/>
            </a:avLst>
          </a:prstGeom>
          <a:solidFill>
            <a:srgbClr val="E4F7F1"/>
          </a:solidFill>
          <a:ln/>
          <a:effectLst>
            <a:outerShdw sx="100000" sy="100000" kx="0" ky="0" algn="bl" rotWithShape="0" blurRad="88900" dist="25400" dir="5400000">
              <a:srgbClr val="0E2A32">
                <a:alpha val="16000"/>
              </a:srgbClr>
            </a:outerShdw>
          </a:effectLst>
        </p:spPr>
      </p:sp>
      <p:sp>
        <p:nvSpPr>
          <p:cNvPr id="7" name="Shape 4"/>
          <p:cNvSpPr/>
          <p:nvPr/>
        </p:nvSpPr>
        <p:spPr>
          <a:xfrm>
            <a:off x="10744200" y="3456432"/>
            <a:ext cx="621792" cy="621792"/>
          </a:xfrm>
          <a:prstGeom prst="ellipse">
            <a:avLst/>
          </a:prstGeom>
          <a:solidFill>
            <a:srgbClr val="02C39A"/>
          </a:solidFill>
          <a:ln/>
        </p:spPr>
      </p:sp>
      <p:pic>
        <p:nvPicPr>
          <p:cNvPr id="8" name="Image 1" descr="preencoded.png">    </p:cNvPr>
          <p:cNvPicPr>
            <a:picLocks noChangeAspect="1"/>
          </p:cNvPicPr>
          <p:nvPr/>
        </p:nvPicPr>
        <p:blipFill>
          <a:blip r:embed="rId2"/>
          <a:stretch>
            <a:fillRect/>
          </a:stretch>
        </p:blipFill>
        <p:spPr>
          <a:xfrm>
            <a:off x="10905866" y="3618098"/>
            <a:ext cx="298460" cy="298460"/>
          </a:xfrm>
          <a:prstGeom prst="rect">
            <a:avLst/>
          </a:prstGeom>
        </p:spPr>
      </p:pic>
      <p:sp>
        <p:nvSpPr>
          <p:cNvPr id="9" name="Text 5"/>
          <p:cNvSpPr/>
          <p:nvPr/>
        </p:nvSpPr>
        <p:spPr>
          <a:xfrm>
            <a:off x="5257800" y="3401568"/>
            <a:ext cx="5303520" cy="411480"/>
          </a:xfrm>
          <a:prstGeom prst="rect">
            <a:avLst/>
          </a:prstGeom>
          <a:noFill/>
          <a:ln/>
        </p:spPr>
        <p:txBody>
          <a:bodyPr wrap="square" rtlCol="0" anchor="ctr"/>
          <a:lstStyle/>
          <a:p>
            <a:pPr rtl="1" algn="r" indent="0" marL="0">
              <a:buNone/>
            </a:pPr>
            <a:r>
              <a:rPr lang="ar-SA" altLang="en-US" sz="1600" b="1" dirty="0">
                <a:solidFill>
                  <a:srgbClr val="028090"/>
                </a:solidFill>
                <a:latin typeface="Arial" pitchFamily="34" charset="0"/>
                <a:ea typeface="Arial" pitchFamily="34" charset="-122"/>
                <a:cs typeface="Arial" pitchFamily="34" charset="-120"/>
              </a:rPr>
              <a:t>تشبيه بسيط</a:t>
            </a:r>
            <a:endParaRPr lang="ar-SA" sz="1600" dirty="0"/>
          </a:p>
        </p:txBody>
      </p:sp>
      <p:sp>
        <p:nvSpPr>
          <p:cNvPr id="10" name="Text 6"/>
          <p:cNvSpPr/>
          <p:nvPr/>
        </p:nvSpPr>
        <p:spPr>
          <a:xfrm>
            <a:off x="5257800" y="3840480"/>
            <a:ext cx="6035040" cy="1005840"/>
          </a:xfrm>
          <a:prstGeom prst="rect">
            <a:avLst/>
          </a:prstGeom>
          <a:noFill/>
          <a:ln/>
        </p:spPr>
        <p:txBody>
          <a:bodyPr wrap="square" rtlCol="0" anchor="ctr"/>
          <a:lstStyle/>
          <a:p>
            <a:pPr rtl="1" algn="r" indent="0" marL="0">
              <a:lnSpc>
                <a:spcPct val="120000"/>
              </a:lnSpc>
              <a:buNone/>
            </a:pPr>
            <a:r>
              <a:rPr lang="ar-SA" altLang="en-US" sz="1400" dirty="0">
                <a:solidFill>
                  <a:srgbClr val="16323A"/>
                </a:solidFill>
                <a:latin typeface="Arial" pitchFamily="34" charset="0"/>
                <a:ea typeface="Arial" pitchFamily="34" charset="-122"/>
                <a:cs typeface="Arial" pitchFamily="34" charset="-120"/>
              </a:rPr>
              <a:t>كما يتعلم الطفل التمييز بين القطة والكلب من كثرة المشاهدة، يتعلم الحاسوب من ملايين الأمثلة والبيانات — دون أن نكتب له قواعد جاهزة لكل حالة.</a:t>
            </a:r>
            <a:endParaRPr lang="ar-SA" sz="1400" dirty="0"/>
          </a:p>
        </p:txBody>
      </p:sp>
      <p:sp>
        <p:nvSpPr>
          <p:cNvPr id="11" name="Text 7"/>
          <p:cNvSpPr/>
          <p:nvPr/>
        </p:nvSpPr>
        <p:spPr>
          <a:xfrm>
            <a:off x="5029200" y="5212080"/>
            <a:ext cx="6583680" cy="457200"/>
          </a:xfrm>
          <a:prstGeom prst="rect">
            <a:avLst/>
          </a:prstGeom>
          <a:noFill/>
          <a:ln/>
        </p:spPr>
        <p:txBody>
          <a:bodyPr wrap="square" rtlCol="0" anchor="ctr"/>
          <a:lstStyle/>
          <a:p>
            <a:pPr rtl="1" algn="r" indent="0" marL="0">
              <a:buNone/>
            </a:pPr>
            <a:r>
              <a:rPr lang="ar-SA" altLang="en-US" sz="1400" i="1" dirty="0">
                <a:solidFill>
                  <a:srgbClr val="587076"/>
                </a:solidFill>
                <a:latin typeface="Arial" pitchFamily="34" charset="0"/>
                <a:ea typeface="Arial" pitchFamily="34" charset="-122"/>
                <a:cs typeface="Arial" pitchFamily="34" charset="-120"/>
              </a:rPr>
              <a:t>ليس سحراً ولا خيالاً علمياً — إنها رياضيات وبيانات وقدرة حوسبة هائلة.</a:t>
            </a:r>
            <a:endParaRPr lang="ar-SA" sz="1400" dirty="0"/>
          </a:p>
        </p:txBody>
      </p:sp>
      <p:sp>
        <p:nvSpPr>
          <p:cNvPr id="12" name="Shape 8"/>
          <p:cNvSpPr/>
          <p:nvPr/>
        </p:nvSpPr>
        <p:spPr>
          <a:xfrm>
            <a:off x="1188720" y="1508760"/>
            <a:ext cx="2377440" cy="2377440"/>
          </a:xfrm>
          <a:prstGeom prst="ellipse">
            <a:avLst/>
          </a:prstGeom>
          <a:solidFill>
            <a:srgbClr val="028090"/>
          </a:solidFill>
          <a:ln/>
        </p:spPr>
      </p:sp>
      <p:pic>
        <p:nvPicPr>
          <p:cNvPr id="13" name="Image 2" descr="preencoded.png">    </p:cNvPr>
          <p:cNvPicPr>
            <a:picLocks noChangeAspect="1"/>
          </p:cNvPicPr>
          <p:nvPr/>
        </p:nvPicPr>
        <p:blipFill>
          <a:blip r:embed="rId3"/>
          <a:stretch>
            <a:fillRect/>
          </a:stretch>
        </p:blipFill>
        <p:spPr>
          <a:xfrm>
            <a:off x="1783080" y="2103120"/>
            <a:ext cx="1188720" cy="1188720"/>
          </a:xfrm>
          <a:prstGeom prst="rect">
            <a:avLst/>
          </a:prstGeom>
        </p:spPr>
      </p:pic>
      <p:sp>
        <p:nvSpPr>
          <p:cNvPr id="14" name="Shape 9"/>
          <p:cNvSpPr/>
          <p:nvPr/>
        </p:nvSpPr>
        <p:spPr>
          <a:xfrm>
            <a:off x="978408" y="4343400"/>
            <a:ext cx="640080" cy="640080"/>
          </a:xfrm>
          <a:prstGeom prst="ellipse">
            <a:avLst/>
          </a:prstGeom>
          <a:solidFill>
            <a:srgbClr val="00A896"/>
          </a:solidFill>
          <a:ln/>
        </p:spPr>
      </p:sp>
      <p:pic>
        <p:nvPicPr>
          <p:cNvPr id="15" name="Image 3" descr="preencoded.png">    </p:cNvPr>
          <p:cNvPicPr>
            <a:picLocks noChangeAspect="1"/>
          </p:cNvPicPr>
          <p:nvPr/>
        </p:nvPicPr>
        <p:blipFill>
          <a:blip r:embed="rId4"/>
          <a:stretch>
            <a:fillRect/>
          </a:stretch>
        </p:blipFill>
        <p:spPr>
          <a:xfrm>
            <a:off x="1144829" y="4509821"/>
            <a:ext cx="307238" cy="307238"/>
          </a:xfrm>
          <a:prstGeom prst="rect">
            <a:avLst/>
          </a:prstGeom>
        </p:spPr>
      </p:pic>
      <p:sp>
        <p:nvSpPr>
          <p:cNvPr id="16" name="Text 10"/>
          <p:cNvSpPr/>
          <p:nvPr/>
        </p:nvSpPr>
        <p:spPr>
          <a:xfrm>
            <a:off x="521208" y="5029200"/>
            <a:ext cx="1554480" cy="365760"/>
          </a:xfrm>
          <a:prstGeom prst="rect">
            <a:avLst/>
          </a:prstGeom>
          <a:noFill/>
          <a:ln/>
        </p:spPr>
        <p:txBody>
          <a:bodyPr wrap="square" rtlCol="0" anchor="ctr"/>
          <a:lstStyle/>
          <a:p>
            <a:pPr rtl="1" algn="ctr" indent="0" marL="0">
              <a:buNone/>
            </a:pPr>
            <a:r>
              <a:rPr lang="ar-SA" altLang="en-US" sz="1200" b="1" dirty="0">
                <a:solidFill>
                  <a:srgbClr val="16323A"/>
                </a:solidFill>
                <a:latin typeface="Arial" pitchFamily="34" charset="0"/>
                <a:ea typeface="Arial" pitchFamily="34" charset="-122"/>
                <a:cs typeface="Arial" pitchFamily="34" charset="-120"/>
              </a:rPr>
              <a:t>يتعلم</a:t>
            </a:r>
            <a:endParaRPr lang="ar-SA" sz="1200" dirty="0"/>
          </a:p>
        </p:txBody>
      </p:sp>
      <p:sp>
        <p:nvSpPr>
          <p:cNvPr id="17" name="Shape 11"/>
          <p:cNvSpPr/>
          <p:nvPr/>
        </p:nvSpPr>
        <p:spPr>
          <a:xfrm>
            <a:off x="2212848" y="4343400"/>
            <a:ext cx="640080" cy="640080"/>
          </a:xfrm>
          <a:prstGeom prst="ellipse">
            <a:avLst/>
          </a:prstGeom>
          <a:solidFill>
            <a:srgbClr val="00A896"/>
          </a:solidFill>
          <a:ln/>
        </p:spPr>
      </p:sp>
      <p:pic>
        <p:nvPicPr>
          <p:cNvPr id="18" name="Image 4" descr="preencoded.png">    </p:cNvPr>
          <p:cNvPicPr>
            <a:picLocks noChangeAspect="1"/>
          </p:cNvPicPr>
          <p:nvPr/>
        </p:nvPicPr>
        <p:blipFill>
          <a:blip r:embed="rId5"/>
          <a:stretch>
            <a:fillRect/>
          </a:stretch>
        </p:blipFill>
        <p:spPr>
          <a:xfrm>
            <a:off x="2379269" y="4509821"/>
            <a:ext cx="307238" cy="307238"/>
          </a:xfrm>
          <a:prstGeom prst="rect">
            <a:avLst/>
          </a:prstGeom>
        </p:spPr>
      </p:pic>
      <p:sp>
        <p:nvSpPr>
          <p:cNvPr id="19" name="Text 12"/>
          <p:cNvSpPr/>
          <p:nvPr/>
        </p:nvSpPr>
        <p:spPr>
          <a:xfrm>
            <a:off x="1755648" y="5029200"/>
            <a:ext cx="1554480" cy="365760"/>
          </a:xfrm>
          <a:prstGeom prst="rect">
            <a:avLst/>
          </a:prstGeom>
          <a:noFill/>
          <a:ln/>
        </p:spPr>
        <p:txBody>
          <a:bodyPr wrap="square" rtlCol="0" anchor="ctr"/>
          <a:lstStyle/>
          <a:p>
            <a:pPr rtl="1" algn="ctr" indent="0" marL="0">
              <a:buNone/>
            </a:pPr>
            <a:r>
              <a:rPr lang="ar-SA" altLang="en-US" sz="1200" b="1" dirty="0">
                <a:solidFill>
                  <a:srgbClr val="16323A"/>
                </a:solidFill>
                <a:latin typeface="Arial" pitchFamily="34" charset="0"/>
                <a:ea typeface="Arial" pitchFamily="34" charset="-122"/>
                <a:cs typeface="Arial" pitchFamily="34" charset="-120"/>
              </a:rPr>
              <a:t>يفهم اللغة</a:t>
            </a:r>
            <a:endParaRPr lang="ar-SA" sz="1200" dirty="0"/>
          </a:p>
        </p:txBody>
      </p:sp>
      <p:sp>
        <p:nvSpPr>
          <p:cNvPr id="20" name="Shape 13"/>
          <p:cNvSpPr/>
          <p:nvPr/>
        </p:nvSpPr>
        <p:spPr>
          <a:xfrm>
            <a:off x="3447288" y="4343400"/>
            <a:ext cx="640080" cy="640080"/>
          </a:xfrm>
          <a:prstGeom prst="ellipse">
            <a:avLst/>
          </a:prstGeom>
          <a:solidFill>
            <a:srgbClr val="00A896"/>
          </a:solidFill>
          <a:ln/>
        </p:spPr>
      </p:sp>
      <p:pic>
        <p:nvPicPr>
          <p:cNvPr id="21" name="Image 5" descr="preencoded.png">    </p:cNvPr>
          <p:cNvPicPr>
            <a:picLocks noChangeAspect="1"/>
          </p:cNvPicPr>
          <p:nvPr/>
        </p:nvPicPr>
        <p:blipFill>
          <a:blip r:embed="rId6"/>
          <a:stretch>
            <a:fillRect/>
          </a:stretch>
        </p:blipFill>
        <p:spPr>
          <a:xfrm>
            <a:off x="3613709" y="4509821"/>
            <a:ext cx="307238" cy="307238"/>
          </a:xfrm>
          <a:prstGeom prst="rect">
            <a:avLst/>
          </a:prstGeom>
        </p:spPr>
      </p:pic>
      <p:sp>
        <p:nvSpPr>
          <p:cNvPr id="22" name="Text 14"/>
          <p:cNvSpPr/>
          <p:nvPr/>
        </p:nvSpPr>
        <p:spPr>
          <a:xfrm>
            <a:off x="2990088" y="5029200"/>
            <a:ext cx="1554480" cy="365760"/>
          </a:xfrm>
          <a:prstGeom prst="rect">
            <a:avLst/>
          </a:prstGeom>
          <a:noFill/>
          <a:ln/>
        </p:spPr>
        <p:txBody>
          <a:bodyPr wrap="square" rtlCol="0" anchor="ctr"/>
          <a:lstStyle/>
          <a:p>
            <a:pPr rtl="1" algn="ctr" indent="0" marL="0">
              <a:buNone/>
            </a:pPr>
            <a:r>
              <a:rPr lang="ar-SA" altLang="en-US" sz="1200" b="1" dirty="0">
                <a:solidFill>
                  <a:srgbClr val="16323A"/>
                </a:solidFill>
                <a:latin typeface="Arial" pitchFamily="34" charset="0"/>
                <a:ea typeface="Arial" pitchFamily="34" charset="-122"/>
                <a:cs typeface="Arial" pitchFamily="34" charset="-120"/>
              </a:rPr>
              <a:t>يتخذ قرارات</a:t>
            </a:r>
            <a:endParaRPr lang="ar-SA"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محطات في تاريخ الذكاء الاصطناعي</a:t>
            </a:r>
            <a:endParaRPr lang="ar-SA" sz="3100" dirty="0"/>
          </a:p>
        </p:txBody>
      </p:sp>
      <p:sp>
        <p:nvSpPr>
          <p:cNvPr id="5" name="Shape 2"/>
          <p:cNvSpPr/>
          <p:nvPr/>
        </p:nvSpPr>
        <p:spPr>
          <a:xfrm>
            <a:off x="1560424" y="2697480"/>
            <a:ext cx="9070848" cy="0"/>
          </a:xfrm>
          <a:prstGeom prst="line">
            <a:avLst/>
          </a:prstGeom>
          <a:noFill/>
          <a:ln w="38100">
            <a:solidFill>
              <a:srgbClr val="CDE9E5"/>
            </a:solidFill>
            <a:prstDash val="solid"/>
          </a:ln>
        </p:spPr>
      </p:sp>
      <p:sp>
        <p:nvSpPr>
          <p:cNvPr id="6" name="Shape 3"/>
          <p:cNvSpPr/>
          <p:nvPr/>
        </p:nvSpPr>
        <p:spPr>
          <a:xfrm>
            <a:off x="10219792" y="2286000"/>
            <a:ext cx="822960" cy="822960"/>
          </a:xfrm>
          <a:prstGeom prst="ellipse">
            <a:avLst/>
          </a:prstGeom>
          <a:solidFill>
            <a:srgbClr val="028090"/>
          </a:solidFill>
          <a:ln w="31750">
            <a:solidFill>
              <a:srgbClr val="FFFFFF"/>
            </a:solidFill>
            <a:prstDash val="solid"/>
          </a:ln>
          <a:effectLst>
            <a:outerShdw sx="100000" sy="100000" kx="0" ky="0" algn="bl" rotWithShape="0" blurRad="88900" dist="25400" dir="5400000">
              <a:srgbClr val="0E2A32">
                <a:alpha val="16000"/>
              </a:srgbClr>
            </a:outerShdw>
          </a:effectLst>
        </p:spPr>
      </p:sp>
      <p:sp>
        <p:nvSpPr>
          <p:cNvPr id="7" name="Text 4"/>
          <p:cNvSpPr/>
          <p:nvPr/>
        </p:nvSpPr>
        <p:spPr>
          <a:xfrm>
            <a:off x="10219792" y="2286000"/>
            <a:ext cx="822960" cy="822960"/>
          </a:xfrm>
          <a:prstGeom prst="rect">
            <a:avLst/>
          </a:prstGeom>
          <a:noFill/>
          <a:ln/>
        </p:spPr>
        <p:txBody>
          <a:bodyPr wrap="square" lIns="0" tIns="0" rIns="0" bIns="0" rtlCol="0" anchor="ctr"/>
          <a:lstStyle/>
          <a:p>
            <a:pPr rtl="1" algn="ctr" indent="0" marL="0">
              <a:buNone/>
            </a:pPr>
            <a:r>
              <a:rPr lang="ar-SA" altLang="en-US" sz="1500" b="1" dirty="0">
                <a:solidFill>
                  <a:srgbClr val="FFFFFF"/>
                </a:solidFill>
                <a:latin typeface="Arial" pitchFamily="34" charset="0"/>
                <a:ea typeface="Arial" pitchFamily="34" charset="-122"/>
                <a:cs typeface="Arial" pitchFamily="34" charset="-120"/>
              </a:rPr>
              <a:t>1950</a:t>
            </a:r>
            <a:endParaRPr lang="ar-SA" sz="1500" dirty="0"/>
          </a:p>
        </p:txBody>
      </p:sp>
      <p:sp>
        <p:nvSpPr>
          <p:cNvPr id="8" name="Text 5"/>
          <p:cNvSpPr/>
          <p:nvPr/>
        </p:nvSpPr>
        <p:spPr>
          <a:xfrm>
            <a:off x="9524848" y="3383280"/>
            <a:ext cx="2212848" cy="411480"/>
          </a:xfrm>
          <a:prstGeom prst="rect">
            <a:avLst/>
          </a:prstGeom>
          <a:noFill/>
          <a:ln/>
        </p:spPr>
        <p:txBody>
          <a:bodyPr wrap="square" rtlCol="0" anchor="ctr"/>
          <a:lstStyle/>
          <a:p>
            <a:pPr rtl="1" algn="ctr" indent="0" marL="0">
              <a:buNone/>
            </a:pPr>
            <a:r>
              <a:rPr lang="ar-SA" altLang="en-US" sz="1500" b="1" dirty="0">
                <a:solidFill>
                  <a:srgbClr val="0E2A32"/>
                </a:solidFill>
                <a:latin typeface="Arial" pitchFamily="34" charset="0"/>
                <a:ea typeface="Arial" pitchFamily="34" charset="-122"/>
                <a:cs typeface="Arial" pitchFamily="34" charset="-120"/>
              </a:rPr>
              <a:t>اختبار تورينغ</a:t>
            </a:r>
            <a:endParaRPr lang="ar-SA" sz="1500" dirty="0"/>
          </a:p>
        </p:txBody>
      </p:sp>
      <p:sp>
        <p:nvSpPr>
          <p:cNvPr id="9" name="Text 6"/>
          <p:cNvSpPr/>
          <p:nvPr/>
        </p:nvSpPr>
        <p:spPr>
          <a:xfrm>
            <a:off x="9598000" y="3794760"/>
            <a:ext cx="2066544" cy="1234440"/>
          </a:xfrm>
          <a:prstGeom prst="rect">
            <a:avLst/>
          </a:prstGeom>
          <a:noFill/>
          <a:ln/>
        </p:spPr>
        <p:txBody>
          <a:bodyPr wrap="square" rtlCol="0" anchor="ctr"/>
          <a:lstStyle/>
          <a:p>
            <a:pPr rtl="1" algn="ctr" indent="0" marL="0">
              <a:lnSpc>
                <a:spcPct val="115000"/>
              </a:lnSpc>
              <a:buNone/>
            </a:pPr>
            <a:r>
              <a:rPr lang="ar-SA" altLang="en-US" sz="1150" dirty="0">
                <a:solidFill>
                  <a:srgbClr val="587076"/>
                </a:solidFill>
                <a:latin typeface="Arial" pitchFamily="34" charset="0"/>
                <a:ea typeface="Arial" pitchFamily="34" charset="-122"/>
                <a:cs typeface="Arial" pitchFamily="34" charset="-120"/>
              </a:rPr>
              <a:t>آلان تورينغ يسأل: هل تستطيع الآلة أن تفكر؟</a:t>
            </a:r>
            <a:endParaRPr lang="ar-SA" sz="1150" dirty="0"/>
          </a:p>
        </p:txBody>
      </p:sp>
      <p:sp>
        <p:nvSpPr>
          <p:cNvPr id="10" name="Shape 7"/>
          <p:cNvSpPr/>
          <p:nvPr/>
        </p:nvSpPr>
        <p:spPr>
          <a:xfrm>
            <a:off x="7952080" y="2286000"/>
            <a:ext cx="822960" cy="822960"/>
          </a:xfrm>
          <a:prstGeom prst="ellipse">
            <a:avLst/>
          </a:prstGeom>
          <a:solidFill>
            <a:srgbClr val="028090"/>
          </a:solidFill>
          <a:ln w="31750">
            <a:solidFill>
              <a:srgbClr val="FFFFFF"/>
            </a:solidFill>
            <a:prstDash val="solid"/>
          </a:ln>
          <a:effectLst>
            <a:outerShdw sx="100000" sy="100000" kx="0" ky="0" algn="bl" rotWithShape="0" blurRad="88900" dist="25400" dir="5400000">
              <a:srgbClr val="0E2A32">
                <a:alpha val="16000"/>
              </a:srgbClr>
            </a:outerShdw>
          </a:effectLst>
        </p:spPr>
      </p:sp>
      <p:sp>
        <p:nvSpPr>
          <p:cNvPr id="11" name="Text 8"/>
          <p:cNvSpPr/>
          <p:nvPr/>
        </p:nvSpPr>
        <p:spPr>
          <a:xfrm>
            <a:off x="7952080" y="2286000"/>
            <a:ext cx="822960" cy="822960"/>
          </a:xfrm>
          <a:prstGeom prst="rect">
            <a:avLst/>
          </a:prstGeom>
          <a:noFill/>
          <a:ln/>
        </p:spPr>
        <p:txBody>
          <a:bodyPr wrap="square" lIns="0" tIns="0" rIns="0" bIns="0" rtlCol="0" anchor="ctr"/>
          <a:lstStyle/>
          <a:p>
            <a:pPr rtl="1" algn="ctr" indent="0" marL="0">
              <a:buNone/>
            </a:pPr>
            <a:r>
              <a:rPr lang="ar-SA" altLang="en-US" sz="1500" b="1" dirty="0">
                <a:solidFill>
                  <a:srgbClr val="FFFFFF"/>
                </a:solidFill>
                <a:latin typeface="Arial" pitchFamily="34" charset="0"/>
                <a:ea typeface="Arial" pitchFamily="34" charset="-122"/>
                <a:cs typeface="Arial" pitchFamily="34" charset="-120"/>
              </a:rPr>
              <a:t>1956</a:t>
            </a:r>
            <a:endParaRPr lang="ar-SA" sz="1500" dirty="0"/>
          </a:p>
        </p:txBody>
      </p:sp>
      <p:sp>
        <p:nvSpPr>
          <p:cNvPr id="12" name="Text 9"/>
          <p:cNvSpPr/>
          <p:nvPr/>
        </p:nvSpPr>
        <p:spPr>
          <a:xfrm>
            <a:off x="7257136" y="3383280"/>
            <a:ext cx="2212848" cy="411480"/>
          </a:xfrm>
          <a:prstGeom prst="rect">
            <a:avLst/>
          </a:prstGeom>
          <a:noFill/>
          <a:ln/>
        </p:spPr>
        <p:txBody>
          <a:bodyPr wrap="square" rtlCol="0" anchor="ctr"/>
          <a:lstStyle/>
          <a:p>
            <a:pPr rtl="1" algn="ctr" indent="0" marL="0">
              <a:buNone/>
            </a:pPr>
            <a:r>
              <a:rPr lang="ar-SA" altLang="en-US" sz="1500" b="1" dirty="0">
                <a:solidFill>
                  <a:srgbClr val="0E2A32"/>
                </a:solidFill>
                <a:latin typeface="Arial" pitchFamily="34" charset="0"/>
                <a:ea typeface="Arial" pitchFamily="34" charset="-122"/>
                <a:cs typeface="Arial" pitchFamily="34" charset="-120"/>
              </a:rPr>
              <a:t>ولادة المصطلح</a:t>
            </a:r>
            <a:endParaRPr lang="ar-SA" sz="1500" dirty="0"/>
          </a:p>
        </p:txBody>
      </p:sp>
      <p:sp>
        <p:nvSpPr>
          <p:cNvPr id="13" name="Text 10"/>
          <p:cNvSpPr/>
          <p:nvPr/>
        </p:nvSpPr>
        <p:spPr>
          <a:xfrm>
            <a:off x="7330288" y="3794760"/>
            <a:ext cx="2066544" cy="1234440"/>
          </a:xfrm>
          <a:prstGeom prst="rect">
            <a:avLst/>
          </a:prstGeom>
          <a:noFill/>
          <a:ln/>
        </p:spPr>
        <p:txBody>
          <a:bodyPr wrap="square" rtlCol="0" anchor="ctr"/>
          <a:lstStyle/>
          <a:p>
            <a:pPr rtl="1" algn="ctr" indent="0" marL="0">
              <a:lnSpc>
                <a:spcPct val="115000"/>
              </a:lnSpc>
              <a:buNone/>
            </a:pPr>
            <a:r>
              <a:rPr lang="ar-SA" altLang="en-US" sz="1150" dirty="0">
                <a:solidFill>
                  <a:srgbClr val="587076"/>
                </a:solidFill>
                <a:latin typeface="Arial" pitchFamily="34" charset="0"/>
                <a:ea typeface="Arial" pitchFamily="34" charset="-122"/>
                <a:cs typeface="Arial" pitchFamily="34" charset="-120"/>
              </a:rPr>
              <a:t>مؤتمر دارتموث يطلق اسم «الذكاء الاصطناعي»</a:t>
            </a:r>
            <a:endParaRPr lang="ar-SA" sz="1150" dirty="0"/>
          </a:p>
        </p:txBody>
      </p:sp>
      <p:sp>
        <p:nvSpPr>
          <p:cNvPr id="14" name="Shape 11"/>
          <p:cNvSpPr/>
          <p:nvPr/>
        </p:nvSpPr>
        <p:spPr>
          <a:xfrm>
            <a:off x="5684368" y="2286000"/>
            <a:ext cx="822960" cy="822960"/>
          </a:xfrm>
          <a:prstGeom prst="ellipse">
            <a:avLst/>
          </a:prstGeom>
          <a:solidFill>
            <a:srgbClr val="028090"/>
          </a:solidFill>
          <a:ln w="31750">
            <a:solidFill>
              <a:srgbClr val="FFFFFF"/>
            </a:solidFill>
            <a:prstDash val="solid"/>
          </a:ln>
          <a:effectLst>
            <a:outerShdw sx="100000" sy="100000" kx="0" ky="0" algn="bl" rotWithShape="0" blurRad="88900" dist="25400" dir="5400000">
              <a:srgbClr val="0E2A32">
                <a:alpha val="16000"/>
              </a:srgbClr>
            </a:outerShdw>
          </a:effectLst>
        </p:spPr>
      </p:sp>
      <p:sp>
        <p:nvSpPr>
          <p:cNvPr id="15" name="Text 12"/>
          <p:cNvSpPr/>
          <p:nvPr/>
        </p:nvSpPr>
        <p:spPr>
          <a:xfrm>
            <a:off x="5684368" y="2286000"/>
            <a:ext cx="822960" cy="822960"/>
          </a:xfrm>
          <a:prstGeom prst="rect">
            <a:avLst/>
          </a:prstGeom>
          <a:noFill/>
          <a:ln/>
        </p:spPr>
        <p:txBody>
          <a:bodyPr wrap="square" lIns="0" tIns="0" rIns="0" bIns="0" rtlCol="0" anchor="ctr"/>
          <a:lstStyle/>
          <a:p>
            <a:pPr rtl="1" algn="ctr" indent="0" marL="0">
              <a:buNone/>
            </a:pPr>
            <a:r>
              <a:rPr lang="ar-SA" altLang="en-US" sz="1500" b="1" dirty="0">
                <a:solidFill>
                  <a:srgbClr val="FFFFFF"/>
                </a:solidFill>
                <a:latin typeface="Arial" pitchFamily="34" charset="0"/>
                <a:ea typeface="Arial" pitchFamily="34" charset="-122"/>
                <a:cs typeface="Arial" pitchFamily="34" charset="-120"/>
              </a:rPr>
              <a:t>1997</a:t>
            </a:r>
            <a:endParaRPr lang="ar-SA" sz="1500" dirty="0"/>
          </a:p>
        </p:txBody>
      </p:sp>
      <p:sp>
        <p:nvSpPr>
          <p:cNvPr id="16" name="Text 13"/>
          <p:cNvSpPr/>
          <p:nvPr/>
        </p:nvSpPr>
        <p:spPr>
          <a:xfrm>
            <a:off x="4989424" y="3383280"/>
            <a:ext cx="2212848" cy="411480"/>
          </a:xfrm>
          <a:prstGeom prst="rect">
            <a:avLst/>
          </a:prstGeom>
          <a:noFill/>
          <a:ln/>
        </p:spPr>
        <p:txBody>
          <a:bodyPr wrap="square" rtlCol="0" anchor="ctr"/>
          <a:lstStyle/>
          <a:p>
            <a:pPr rtl="1" algn="ctr" indent="0" marL="0">
              <a:buNone/>
            </a:pPr>
            <a:r>
              <a:rPr lang="ar-SA" altLang="en-US" sz="1500" b="1" dirty="0">
                <a:solidFill>
                  <a:srgbClr val="0E2A32"/>
                </a:solidFill>
                <a:latin typeface="Arial" pitchFamily="34" charset="0"/>
                <a:ea typeface="Arial" pitchFamily="34" charset="-122"/>
                <a:cs typeface="Arial" pitchFamily="34" charset="-120"/>
              </a:rPr>
              <a:t>ديب بلو</a:t>
            </a:r>
            <a:endParaRPr lang="ar-SA" sz="1500" dirty="0"/>
          </a:p>
        </p:txBody>
      </p:sp>
      <p:sp>
        <p:nvSpPr>
          <p:cNvPr id="17" name="Text 14"/>
          <p:cNvSpPr/>
          <p:nvPr/>
        </p:nvSpPr>
        <p:spPr>
          <a:xfrm>
            <a:off x="5062576" y="3794760"/>
            <a:ext cx="2066544" cy="1234440"/>
          </a:xfrm>
          <a:prstGeom prst="rect">
            <a:avLst/>
          </a:prstGeom>
          <a:noFill/>
          <a:ln/>
        </p:spPr>
        <p:txBody>
          <a:bodyPr wrap="square" rtlCol="0" anchor="ctr"/>
          <a:lstStyle/>
          <a:p>
            <a:pPr rtl="1" algn="ctr" indent="0" marL="0">
              <a:lnSpc>
                <a:spcPct val="115000"/>
              </a:lnSpc>
              <a:buNone/>
            </a:pPr>
            <a:r>
              <a:rPr lang="ar-SA" altLang="en-US" sz="1150" dirty="0">
                <a:solidFill>
                  <a:srgbClr val="587076"/>
                </a:solidFill>
                <a:latin typeface="Arial" pitchFamily="34" charset="0"/>
                <a:ea typeface="Arial" pitchFamily="34" charset="-122"/>
                <a:cs typeface="Arial" pitchFamily="34" charset="-120"/>
              </a:rPr>
              <a:t>حاسوب IBM يهزم بطل العالم في الشطرنج</a:t>
            </a:r>
            <a:endParaRPr lang="ar-SA" sz="1150" dirty="0"/>
          </a:p>
        </p:txBody>
      </p:sp>
      <p:sp>
        <p:nvSpPr>
          <p:cNvPr id="18" name="Shape 15"/>
          <p:cNvSpPr/>
          <p:nvPr/>
        </p:nvSpPr>
        <p:spPr>
          <a:xfrm>
            <a:off x="3416656" y="2286000"/>
            <a:ext cx="822960" cy="822960"/>
          </a:xfrm>
          <a:prstGeom prst="ellipse">
            <a:avLst/>
          </a:prstGeom>
          <a:solidFill>
            <a:srgbClr val="028090"/>
          </a:solidFill>
          <a:ln w="31750">
            <a:solidFill>
              <a:srgbClr val="FFFFFF"/>
            </a:solidFill>
            <a:prstDash val="solid"/>
          </a:ln>
          <a:effectLst>
            <a:outerShdw sx="100000" sy="100000" kx="0" ky="0" algn="bl" rotWithShape="0" blurRad="88900" dist="25400" dir="5400000">
              <a:srgbClr val="0E2A32">
                <a:alpha val="16000"/>
              </a:srgbClr>
            </a:outerShdw>
          </a:effectLst>
        </p:spPr>
      </p:sp>
      <p:sp>
        <p:nvSpPr>
          <p:cNvPr id="19" name="Text 16"/>
          <p:cNvSpPr/>
          <p:nvPr/>
        </p:nvSpPr>
        <p:spPr>
          <a:xfrm>
            <a:off x="3416656" y="2286000"/>
            <a:ext cx="822960" cy="822960"/>
          </a:xfrm>
          <a:prstGeom prst="rect">
            <a:avLst/>
          </a:prstGeom>
          <a:noFill/>
          <a:ln/>
        </p:spPr>
        <p:txBody>
          <a:bodyPr wrap="square" lIns="0" tIns="0" rIns="0" bIns="0" rtlCol="0" anchor="ctr"/>
          <a:lstStyle/>
          <a:p>
            <a:pPr rtl="1" algn="ctr" indent="0" marL="0">
              <a:buNone/>
            </a:pPr>
            <a:r>
              <a:rPr lang="ar-SA" altLang="en-US" sz="1500" b="1" dirty="0">
                <a:solidFill>
                  <a:srgbClr val="FFFFFF"/>
                </a:solidFill>
                <a:latin typeface="Arial" pitchFamily="34" charset="0"/>
                <a:ea typeface="Arial" pitchFamily="34" charset="-122"/>
                <a:cs typeface="Arial" pitchFamily="34" charset="-120"/>
              </a:rPr>
              <a:t>2016</a:t>
            </a:r>
            <a:endParaRPr lang="ar-SA" sz="1500" dirty="0"/>
          </a:p>
        </p:txBody>
      </p:sp>
      <p:sp>
        <p:nvSpPr>
          <p:cNvPr id="20" name="Text 17"/>
          <p:cNvSpPr/>
          <p:nvPr/>
        </p:nvSpPr>
        <p:spPr>
          <a:xfrm>
            <a:off x="2721712" y="3383280"/>
            <a:ext cx="2212848" cy="411480"/>
          </a:xfrm>
          <a:prstGeom prst="rect">
            <a:avLst/>
          </a:prstGeom>
          <a:noFill/>
          <a:ln/>
        </p:spPr>
        <p:txBody>
          <a:bodyPr wrap="square" rtlCol="0" anchor="ctr"/>
          <a:lstStyle/>
          <a:p>
            <a:pPr rtl="1" algn="ctr" indent="0" marL="0">
              <a:buNone/>
            </a:pPr>
            <a:r>
              <a:rPr lang="ar-SA" altLang="en-US" sz="1500" b="1" dirty="0">
                <a:solidFill>
                  <a:srgbClr val="0E2A32"/>
                </a:solidFill>
                <a:latin typeface="Arial" pitchFamily="34" charset="0"/>
                <a:ea typeface="Arial" pitchFamily="34" charset="-122"/>
                <a:cs typeface="Arial" pitchFamily="34" charset="-120"/>
              </a:rPr>
              <a:t>ألفاغو</a:t>
            </a:r>
            <a:endParaRPr lang="ar-SA" sz="1500" dirty="0"/>
          </a:p>
        </p:txBody>
      </p:sp>
      <p:sp>
        <p:nvSpPr>
          <p:cNvPr id="21" name="Text 18"/>
          <p:cNvSpPr/>
          <p:nvPr/>
        </p:nvSpPr>
        <p:spPr>
          <a:xfrm>
            <a:off x="2794864" y="3794760"/>
            <a:ext cx="2066544" cy="1234440"/>
          </a:xfrm>
          <a:prstGeom prst="rect">
            <a:avLst/>
          </a:prstGeom>
          <a:noFill/>
          <a:ln/>
        </p:spPr>
        <p:txBody>
          <a:bodyPr wrap="square" rtlCol="0" anchor="ctr"/>
          <a:lstStyle/>
          <a:p>
            <a:pPr rtl="1" algn="ctr" indent="0" marL="0">
              <a:lnSpc>
                <a:spcPct val="115000"/>
              </a:lnSpc>
              <a:buNone/>
            </a:pPr>
            <a:r>
              <a:rPr lang="ar-SA" altLang="en-US" sz="1150" dirty="0">
                <a:solidFill>
                  <a:srgbClr val="587076"/>
                </a:solidFill>
                <a:latin typeface="Arial" pitchFamily="34" charset="0"/>
                <a:ea typeface="Arial" pitchFamily="34" charset="-122"/>
                <a:cs typeface="Arial" pitchFamily="34" charset="-120"/>
              </a:rPr>
              <a:t>AlphaGo يتفوق في لعبة غو المعقدة، وتنتشر المساعدات الصوتية</a:t>
            </a:r>
            <a:endParaRPr lang="ar-SA" sz="1150" dirty="0"/>
          </a:p>
        </p:txBody>
      </p:sp>
      <p:sp>
        <p:nvSpPr>
          <p:cNvPr id="22" name="Shape 19"/>
          <p:cNvSpPr/>
          <p:nvPr/>
        </p:nvSpPr>
        <p:spPr>
          <a:xfrm>
            <a:off x="1148944" y="2286000"/>
            <a:ext cx="822960" cy="822960"/>
          </a:xfrm>
          <a:prstGeom prst="ellipse">
            <a:avLst/>
          </a:prstGeom>
          <a:solidFill>
            <a:srgbClr val="02C39A"/>
          </a:solidFill>
          <a:ln w="31750">
            <a:solidFill>
              <a:srgbClr val="FFFFFF"/>
            </a:solidFill>
            <a:prstDash val="solid"/>
          </a:ln>
          <a:effectLst>
            <a:outerShdw sx="100000" sy="100000" kx="0" ky="0" algn="bl" rotWithShape="0" blurRad="88900" dist="25400" dir="5400000">
              <a:srgbClr val="0E2A32">
                <a:alpha val="16000"/>
              </a:srgbClr>
            </a:outerShdw>
          </a:effectLst>
        </p:spPr>
      </p:sp>
      <p:sp>
        <p:nvSpPr>
          <p:cNvPr id="23" name="Text 20"/>
          <p:cNvSpPr/>
          <p:nvPr/>
        </p:nvSpPr>
        <p:spPr>
          <a:xfrm>
            <a:off x="1148944" y="2286000"/>
            <a:ext cx="822960" cy="822960"/>
          </a:xfrm>
          <a:prstGeom prst="rect">
            <a:avLst/>
          </a:prstGeom>
          <a:noFill/>
          <a:ln/>
        </p:spPr>
        <p:txBody>
          <a:bodyPr wrap="square" lIns="0" tIns="0" rIns="0" bIns="0" rtlCol="0" anchor="ctr"/>
          <a:lstStyle/>
          <a:p>
            <a:pPr rtl="1" algn="ctr" indent="0" marL="0">
              <a:buNone/>
            </a:pPr>
            <a:r>
              <a:rPr lang="ar-SA" altLang="en-US" sz="1500" b="1" dirty="0">
                <a:solidFill>
                  <a:srgbClr val="FFFFFF"/>
                </a:solidFill>
                <a:latin typeface="Arial" pitchFamily="34" charset="0"/>
                <a:ea typeface="Arial" pitchFamily="34" charset="-122"/>
                <a:cs typeface="Arial" pitchFamily="34" charset="-120"/>
              </a:rPr>
              <a:t>2022</a:t>
            </a:r>
            <a:endParaRPr lang="ar-SA" sz="1500" dirty="0"/>
          </a:p>
        </p:txBody>
      </p:sp>
      <p:sp>
        <p:nvSpPr>
          <p:cNvPr id="24" name="Text 21"/>
          <p:cNvSpPr/>
          <p:nvPr/>
        </p:nvSpPr>
        <p:spPr>
          <a:xfrm>
            <a:off x="454000" y="3383280"/>
            <a:ext cx="2212848" cy="411480"/>
          </a:xfrm>
          <a:prstGeom prst="rect">
            <a:avLst/>
          </a:prstGeom>
          <a:noFill/>
          <a:ln/>
        </p:spPr>
        <p:txBody>
          <a:bodyPr wrap="square" rtlCol="0" anchor="ctr"/>
          <a:lstStyle/>
          <a:p>
            <a:pPr rtl="1" algn="ctr" indent="0" marL="0">
              <a:buNone/>
            </a:pPr>
            <a:r>
              <a:rPr lang="ar-SA" altLang="en-US" sz="1500" b="1" dirty="0">
                <a:solidFill>
                  <a:srgbClr val="0E2A32"/>
                </a:solidFill>
                <a:latin typeface="Arial" pitchFamily="34" charset="0"/>
                <a:ea typeface="Arial" pitchFamily="34" charset="-122"/>
                <a:cs typeface="Arial" pitchFamily="34" charset="-120"/>
              </a:rPr>
              <a:t>الذكاء التوليدي</a:t>
            </a:r>
            <a:endParaRPr lang="ar-SA" sz="1500" dirty="0"/>
          </a:p>
        </p:txBody>
      </p:sp>
      <p:sp>
        <p:nvSpPr>
          <p:cNvPr id="25" name="Text 22"/>
          <p:cNvSpPr/>
          <p:nvPr/>
        </p:nvSpPr>
        <p:spPr>
          <a:xfrm>
            <a:off x="527152" y="3794760"/>
            <a:ext cx="2066544" cy="1234440"/>
          </a:xfrm>
          <a:prstGeom prst="rect">
            <a:avLst/>
          </a:prstGeom>
          <a:noFill/>
          <a:ln/>
        </p:spPr>
        <p:txBody>
          <a:bodyPr wrap="square" rtlCol="0" anchor="ctr"/>
          <a:lstStyle/>
          <a:p>
            <a:pPr rtl="1" algn="ctr" indent="0" marL="0">
              <a:lnSpc>
                <a:spcPct val="115000"/>
              </a:lnSpc>
              <a:buNone/>
            </a:pPr>
            <a:r>
              <a:rPr lang="ar-SA" altLang="en-US" sz="1150" dirty="0">
                <a:solidFill>
                  <a:srgbClr val="587076"/>
                </a:solidFill>
                <a:latin typeface="Arial" pitchFamily="34" charset="0"/>
                <a:ea typeface="Arial" pitchFamily="34" charset="-122"/>
                <a:cs typeface="Arial" pitchFamily="34" charset="-120"/>
              </a:rPr>
              <a:t>ChatGPT يضع الذكاء الاصطناعي بين يدي الجميع</a:t>
            </a:r>
            <a:endParaRPr lang="ar-SA" sz="1150" dirty="0"/>
          </a:p>
        </p:txBody>
      </p:sp>
      <p:sp>
        <p:nvSpPr>
          <p:cNvPr id="26" name="Text 23"/>
          <p:cNvSpPr/>
          <p:nvPr/>
        </p:nvSpPr>
        <p:spPr>
          <a:xfrm>
            <a:off x="548640" y="5715000"/>
            <a:ext cx="11094415" cy="457200"/>
          </a:xfrm>
          <a:prstGeom prst="rect">
            <a:avLst/>
          </a:prstGeom>
          <a:noFill/>
          <a:ln/>
        </p:spPr>
        <p:txBody>
          <a:bodyPr wrap="square" rtlCol="0" anchor="ctr"/>
          <a:lstStyle/>
          <a:p>
            <a:pPr rtl="1" algn="ctr" indent="0" marL="0">
              <a:buNone/>
            </a:pPr>
            <a:r>
              <a:rPr lang="ar-SA" altLang="en-US" sz="1400" i="1" dirty="0">
                <a:solidFill>
                  <a:srgbClr val="028090"/>
                </a:solidFill>
                <a:latin typeface="Arial" pitchFamily="34" charset="0"/>
                <a:ea typeface="Arial" pitchFamily="34" charset="-122"/>
                <a:cs typeface="Arial" pitchFamily="34" charset="-120"/>
              </a:rPr>
              <a:t>فكرة عمرها أكثر من 70 عاماً — لكن البيانات الضخمة والحواسيب القوية جعلتها تنفجر في العقد الأخير.</a:t>
            </a:r>
            <a:endParaRPr lang="ar-SA"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كيف يتعلم الذكاء الاصطناعي؟</a:t>
            </a:r>
            <a:endParaRPr lang="ar-SA" sz="3100" dirty="0"/>
          </a:p>
        </p:txBody>
      </p:sp>
      <p:sp>
        <p:nvSpPr>
          <p:cNvPr id="5" name="Shape 2"/>
          <p:cNvSpPr/>
          <p:nvPr/>
        </p:nvSpPr>
        <p:spPr>
          <a:xfrm>
            <a:off x="9186520" y="1874520"/>
            <a:ext cx="2487168" cy="2331720"/>
          </a:xfrm>
          <a:prstGeom prst="roundRect">
            <a:avLst>
              <a:gd name="adj" fmla="val 4706"/>
            </a:avLst>
          </a:prstGeom>
          <a:solidFill>
            <a:srgbClr val="F2F7F7"/>
          </a:solidFill>
          <a:ln/>
          <a:effectLst>
            <a:outerShdw sx="100000" sy="100000" kx="0" ky="0" algn="bl" rotWithShape="0" blurRad="88900" dist="25400" dir="5400000">
              <a:srgbClr val="0E2A32">
                <a:alpha val="16000"/>
              </a:srgbClr>
            </a:outerShdw>
          </a:effectLst>
        </p:spPr>
      </p:sp>
      <p:sp>
        <p:nvSpPr>
          <p:cNvPr id="6" name="Shape 3"/>
          <p:cNvSpPr/>
          <p:nvPr/>
        </p:nvSpPr>
        <p:spPr>
          <a:xfrm>
            <a:off x="10046056" y="2130552"/>
            <a:ext cx="768096" cy="768096"/>
          </a:xfrm>
          <a:prstGeom prst="ellipse">
            <a:avLst/>
          </a:prstGeom>
          <a:solidFill>
            <a:srgbClr val="028090"/>
          </a:solidFill>
          <a:ln/>
        </p:spPr>
      </p:sp>
      <p:pic>
        <p:nvPicPr>
          <p:cNvPr id="7" name="Image 1" descr="preencoded.png">    </p:cNvPr>
          <p:cNvPicPr>
            <a:picLocks noChangeAspect="1"/>
          </p:cNvPicPr>
          <p:nvPr/>
        </p:nvPicPr>
        <p:blipFill>
          <a:blip r:embed="rId2"/>
          <a:stretch>
            <a:fillRect/>
          </a:stretch>
        </p:blipFill>
        <p:spPr>
          <a:xfrm>
            <a:off x="10245761" y="2330257"/>
            <a:ext cx="368686" cy="368686"/>
          </a:xfrm>
          <a:prstGeom prst="rect">
            <a:avLst/>
          </a:prstGeom>
        </p:spPr>
      </p:pic>
      <p:sp>
        <p:nvSpPr>
          <p:cNvPr id="8" name="Text 4"/>
          <p:cNvSpPr/>
          <p:nvPr/>
        </p:nvSpPr>
        <p:spPr>
          <a:xfrm>
            <a:off x="9277960" y="2990088"/>
            <a:ext cx="2304288" cy="411480"/>
          </a:xfrm>
          <a:prstGeom prst="rect">
            <a:avLst/>
          </a:prstGeom>
          <a:noFill/>
          <a:ln/>
        </p:spPr>
        <p:txBody>
          <a:bodyPr wrap="square" rtlCol="0" anchor="ctr"/>
          <a:lstStyle/>
          <a:p>
            <a:pPr rtl="1" algn="ctr" indent="0" marL="0">
              <a:buNone/>
            </a:pPr>
            <a:r>
              <a:rPr lang="ar-SA" altLang="en-US" sz="1700" b="1" dirty="0">
                <a:solidFill>
                  <a:srgbClr val="0E2A32"/>
                </a:solidFill>
                <a:latin typeface="Arial" pitchFamily="34" charset="0"/>
                <a:ea typeface="Arial" pitchFamily="34" charset="-122"/>
                <a:cs typeface="Arial" pitchFamily="34" charset="-120"/>
              </a:rPr>
              <a:t>1. البيانات</a:t>
            </a:r>
            <a:endParaRPr lang="ar-SA" sz="1700" dirty="0"/>
          </a:p>
        </p:txBody>
      </p:sp>
      <p:sp>
        <p:nvSpPr>
          <p:cNvPr id="9" name="Text 5"/>
          <p:cNvSpPr/>
          <p:nvPr/>
        </p:nvSpPr>
        <p:spPr>
          <a:xfrm>
            <a:off x="9351112" y="3410712"/>
            <a:ext cx="2157984" cy="731520"/>
          </a:xfrm>
          <a:prstGeom prst="rect">
            <a:avLst/>
          </a:prstGeom>
          <a:noFill/>
          <a:ln/>
        </p:spPr>
        <p:txBody>
          <a:bodyPr wrap="square" rtlCol="0" anchor="ctr"/>
          <a:lstStyle/>
          <a:p>
            <a:pPr rtl="1" algn="ctr" indent="0" marL="0">
              <a:lnSpc>
                <a:spcPct val="115000"/>
              </a:lnSpc>
              <a:buNone/>
            </a:pPr>
            <a:r>
              <a:rPr lang="ar-SA" altLang="en-US" sz="1250" dirty="0">
                <a:solidFill>
                  <a:srgbClr val="587076"/>
                </a:solidFill>
                <a:latin typeface="Arial" pitchFamily="34" charset="0"/>
                <a:ea typeface="Arial" pitchFamily="34" charset="-122"/>
                <a:cs typeface="Arial" pitchFamily="34" charset="-120"/>
              </a:rPr>
              <a:t>نجمع أمثلة كثيرة: صور، نصوص، أرقام</a:t>
            </a:r>
            <a:endParaRPr lang="ar-SA" sz="1250" dirty="0"/>
          </a:p>
        </p:txBody>
      </p:sp>
      <p:sp>
        <p:nvSpPr>
          <p:cNvPr id="10" name="Shape 6"/>
          <p:cNvSpPr/>
          <p:nvPr/>
        </p:nvSpPr>
        <p:spPr>
          <a:xfrm flipH="1">
            <a:off x="8829904" y="2884932"/>
            <a:ext cx="310896" cy="310896"/>
          </a:xfrm>
          <a:prstGeom prst="chevron">
            <a:avLst/>
          </a:prstGeom>
          <a:solidFill>
            <a:srgbClr val="02C39A"/>
          </a:solidFill>
          <a:ln/>
        </p:spPr>
      </p:sp>
      <p:sp>
        <p:nvSpPr>
          <p:cNvPr id="11" name="Shape 7"/>
          <p:cNvSpPr/>
          <p:nvPr/>
        </p:nvSpPr>
        <p:spPr>
          <a:xfrm>
            <a:off x="6297016" y="1874520"/>
            <a:ext cx="2487168" cy="2331720"/>
          </a:xfrm>
          <a:prstGeom prst="roundRect">
            <a:avLst>
              <a:gd name="adj" fmla="val 4706"/>
            </a:avLst>
          </a:prstGeom>
          <a:solidFill>
            <a:srgbClr val="F2F7F7"/>
          </a:solidFill>
          <a:ln/>
          <a:effectLst>
            <a:outerShdw sx="100000" sy="100000" kx="0" ky="0" algn="bl" rotWithShape="0" blurRad="88900" dist="25400" dir="5400000">
              <a:srgbClr val="0E2A32">
                <a:alpha val="16000"/>
              </a:srgbClr>
            </a:outerShdw>
          </a:effectLst>
        </p:spPr>
      </p:sp>
      <p:sp>
        <p:nvSpPr>
          <p:cNvPr id="12" name="Shape 8"/>
          <p:cNvSpPr/>
          <p:nvPr/>
        </p:nvSpPr>
        <p:spPr>
          <a:xfrm>
            <a:off x="7156552" y="2130552"/>
            <a:ext cx="768096" cy="768096"/>
          </a:xfrm>
          <a:prstGeom prst="ellipse">
            <a:avLst/>
          </a:prstGeom>
          <a:solidFill>
            <a:srgbClr val="028090"/>
          </a:solidFill>
          <a:ln/>
        </p:spPr>
      </p:sp>
      <p:pic>
        <p:nvPicPr>
          <p:cNvPr id="13" name="Image 2" descr="preencoded.png">    </p:cNvPr>
          <p:cNvPicPr>
            <a:picLocks noChangeAspect="1"/>
          </p:cNvPicPr>
          <p:nvPr/>
        </p:nvPicPr>
        <p:blipFill>
          <a:blip r:embed="rId3"/>
          <a:stretch>
            <a:fillRect/>
          </a:stretch>
        </p:blipFill>
        <p:spPr>
          <a:xfrm>
            <a:off x="7356257" y="2330257"/>
            <a:ext cx="368686" cy="368686"/>
          </a:xfrm>
          <a:prstGeom prst="rect">
            <a:avLst/>
          </a:prstGeom>
        </p:spPr>
      </p:pic>
      <p:sp>
        <p:nvSpPr>
          <p:cNvPr id="14" name="Text 9"/>
          <p:cNvSpPr/>
          <p:nvPr/>
        </p:nvSpPr>
        <p:spPr>
          <a:xfrm>
            <a:off x="6388456" y="2990088"/>
            <a:ext cx="2304288" cy="411480"/>
          </a:xfrm>
          <a:prstGeom prst="rect">
            <a:avLst/>
          </a:prstGeom>
          <a:noFill/>
          <a:ln/>
        </p:spPr>
        <p:txBody>
          <a:bodyPr wrap="square" rtlCol="0" anchor="ctr"/>
          <a:lstStyle/>
          <a:p>
            <a:pPr rtl="1" algn="ctr" indent="0" marL="0">
              <a:buNone/>
            </a:pPr>
            <a:r>
              <a:rPr lang="ar-SA" altLang="en-US" sz="1700" b="1" dirty="0">
                <a:solidFill>
                  <a:srgbClr val="0E2A32"/>
                </a:solidFill>
                <a:latin typeface="Arial" pitchFamily="34" charset="0"/>
                <a:ea typeface="Arial" pitchFamily="34" charset="-122"/>
                <a:cs typeface="Arial" pitchFamily="34" charset="-120"/>
              </a:rPr>
              <a:t>2. التدريب</a:t>
            </a:r>
            <a:endParaRPr lang="ar-SA" sz="1700" dirty="0"/>
          </a:p>
        </p:txBody>
      </p:sp>
      <p:sp>
        <p:nvSpPr>
          <p:cNvPr id="15" name="Text 10"/>
          <p:cNvSpPr/>
          <p:nvPr/>
        </p:nvSpPr>
        <p:spPr>
          <a:xfrm>
            <a:off x="6461608" y="3410712"/>
            <a:ext cx="2157984" cy="731520"/>
          </a:xfrm>
          <a:prstGeom prst="rect">
            <a:avLst/>
          </a:prstGeom>
          <a:noFill/>
          <a:ln/>
        </p:spPr>
        <p:txBody>
          <a:bodyPr wrap="square" rtlCol="0" anchor="ctr"/>
          <a:lstStyle/>
          <a:p>
            <a:pPr rtl="1" algn="ctr" indent="0" marL="0">
              <a:lnSpc>
                <a:spcPct val="115000"/>
              </a:lnSpc>
              <a:buNone/>
            </a:pPr>
            <a:r>
              <a:rPr lang="ar-SA" altLang="en-US" sz="1250" dirty="0">
                <a:solidFill>
                  <a:srgbClr val="587076"/>
                </a:solidFill>
                <a:latin typeface="Arial" pitchFamily="34" charset="0"/>
                <a:ea typeface="Arial" pitchFamily="34" charset="-122"/>
                <a:cs typeface="Arial" pitchFamily="34" charset="-120"/>
              </a:rPr>
              <a:t>الخوارزمية تكتشف الأنماط المتكررة</a:t>
            </a:r>
            <a:endParaRPr lang="ar-SA" sz="1250" dirty="0"/>
          </a:p>
        </p:txBody>
      </p:sp>
      <p:sp>
        <p:nvSpPr>
          <p:cNvPr id="16" name="Shape 11"/>
          <p:cNvSpPr/>
          <p:nvPr/>
        </p:nvSpPr>
        <p:spPr>
          <a:xfrm flipH="1">
            <a:off x="5940400" y="2884932"/>
            <a:ext cx="310896" cy="310896"/>
          </a:xfrm>
          <a:prstGeom prst="chevron">
            <a:avLst/>
          </a:prstGeom>
          <a:solidFill>
            <a:srgbClr val="02C39A"/>
          </a:solidFill>
          <a:ln/>
        </p:spPr>
      </p:sp>
      <p:sp>
        <p:nvSpPr>
          <p:cNvPr id="17" name="Shape 12"/>
          <p:cNvSpPr/>
          <p:nvPr/>
        </p:nvSpPr>
        <p:spPr>
          <a:xfrm>
            <a:off x="3407512" y="1874520"/>
            <a:ext cx="2487168" cy="2331720"/>
          </a:xfrm>
          <a:prstGeom prst="roundRect">
            <a:avLst>
              <a:gd name="adj" fmla="val 4706"/>
            </a:avLst>
          </a:prstGeom>
          <a:solidFill>
            <a:srgbClr val="F2F7F7"/>
          </a:solidFill>
          <a:ln/>
          <a:effectLst>
            <a:outerShdw sx="100000" sy="100000" kx="0" ky="0" algn="bl" rotWithShape="0" blurRad="88900" dist="25400" dir="5400000">
              <a:srgbClr val="0E2A32">
                <a:alpha val="16000"/>
              </a:srgbClr>
            </a:outerShdw>
          </a:effectLst>
        </p:spPr>
      </p:sp>
      <p:sp>
        <p:nvSpPr>
          <p:cNvPr id="18" name="Shape 13"/>
          <p:cNvSpPr/>
          <p:nvPr/>
        </p:nvSpPr>
        <p:spPr>
          <a:xfrm>
            <a:off x="4267048" y="2130552"/>
            <a:ext cx="768096" cy="768096"/>
          </a:xfrm>
          <a:prstGeom prst="ellipse">
            <a:avLst/>
          </a:prstGeom>
          <a:solidFill>
            <a:srgbClr val="028090"/>
          </a:solidFill>
          <a:ln/>
        </p:spPr>
      </p:sp>
      <p:pic>
        <p:nvPicPr>
          <p:cNvPr id="19" name="Image 3" descr="preencoded.png">    </p:cNvPr>
          <p:cNvPicPr>
            <a:picLocks noChangeAspect="1"/>
          </p:cNvPicPr>
          <p:nvPr/>
        </p:nvPicPr>
        <p:blipFill>
          <a:blip r:embed="rId4"/>
          <a:stretch>
            <a:fillRect/>
          </a:stretch>
        </p:blipFill>
        <p:spPr>
          <a:xfrm>
            <a:off x="4466753" y="2330257"/>
            <a:ext cx="368686" cy="368686"/>
          </a:xfrm>
          <a:prstGeom prst="rect">
            <a:avLst/>
          </a:prstGeom>
        </p:spPr>
      </p:pic>
      <p:sp>
        <p:nvSpPr>
          <p:cNvPr id="20" name="Text 14"/>
          <p:cNvSpPr/>
          <p:nvPr/>
        </p:nvSpPr>
        <p:spPr>
          <a:xfrm>
            <a:off x="3498952" y="2990088"/>
            <a:ext cx="2304288" cy="411480"/>
          </a:xfrm>
          <a:prstGeom prst="rect">
            <a:avLst/>
          </a:prstGeom>
          <a:noFill/>
          <a:ln/>
        </p:spPr>
        <p:txBody>
          <a:bodyPr wrap="square" rtlCol="0" anchor="ctr"/>
          <a:lstStyle/>
          <a:p>
            <a:pPr rtl="1" algn="ctr" indent="0" marL="0">
              <a:buNone/>
            </a:pPr>
            <a:r>
              <a:rPr lang="ar-SA" altLang="en-US" sz="1700" b="1" dirty="0">
                <a:solidFill>
                  <a:srgbClr val="0E2A32"/>
                </a:solidFill>
                <a:latin typeface="Arial" pitchFamily="34" charset="0"/>
                <a:ea typeface="Arial" pitchFamily="34" charset="-122"/>
                <a:cs typeface="Arial" pitchFamily="34" charset="-120"/>
              </a:rPr>
              <a:t>3. النموذج</a:t>
            </a:r>
            <a:endParaRPr lang="ar-SA" sz="1700" dirty="0"/>
          </a:p>
        </p:txBody>
      </p:sp>
      <p:sp>
        <p:nvSpPr>
          <p:cNvPr id="21" name="Text 15"/>
          <p:cNvSpPr/>
          <p:nvPr/>
        </p:nvSpPr>
        <p:spPr>
          <a:xfrm>
            <a:off x="3572104" y="3410712"/>
            <a:ext cx="2157984" cy="731520"/>
          </a:xfrm>
          <a:prstGeom prst="rect">
            <a:avLst/>
          </a:prstGeom>
          <a:noFill/>
          <a:ln/>
        </p:spPr>
        <p:txBody>
          <a:bodyPr wrap="square" rtlCol="0" anchor="ctr"/>
          <a:lstStyle/>
          <a:p>
            <a:pPr rtl="1" algn="ctr" indent="0" marL="0">
              <a:lnSpc>
                <a:spcPct val="115000"/>
              </a:lnSpc>
              <a:buNone/>
            </a:pPr>
            <a:r>
              <a:rPr lang="ar-SA" altLang="en-US" sz="1250" dirty="0">
                <a:solidFill>
                  <a:srgbClr val="587076"/>
                </a:solidFill>
                <a:latin typeface="Arial" pitchFamily="34" charset="0"/>
                <a:ea typeface="Arial" pitchFamily="34" charset="-122"/>
                <a:cs typeface="Arial" pitchFamily="34" charset="-120"/>
              </a:rPr>
              <a:t>يخزّن ما تعلمه في ملايين المعاملات</a:t>
            </a:r>
            <a:endParaRPr lang="ar-SA" sz="1250" dirty="0"/>
          </a:p>
        </p:txBody>
      </p:sp>
      <p:sp>
        <p:nvSpPr>
          <p:cNvPr id="22" name="Shape 16"/>
          <p:cNvSpPr/>
          <p:nvPr/>
        </p:nvSpPr>
        <p:spPr>
          <a:xfrm flipH="1">
            <a:off x="3050896" y="2884932"/>
            <a:ext cx="310896" cy="310896"/>
          </a:xfrm>
          <a:prstGeom prst="chevron">
            <a:avLst/>
          </a:prstGeom>
          <a:solidFill>
            <a:srgbClr val="02C39A"/>
          </a:solidFill>
          <a:ln/>
        </p:spPr>
      </p:sp>
      <p:sp>
        <p:nvSpPr>
          <p:cNvPr id="23" name="Shape 17"/>
          <p:cNvSpPr/>
          <p:nvPr/>
        </p:nvSpPr>
        <p:spPr>
          <a:xfrm>
            <a:off x="518008" y="1874520"/>
            <a:ext cx="2487168" cy="2331720"/>
          </a:xfrm>
          <a:prstGeom prst="roundRect">
            <a:avLst>
              <a:gd name="adj" fmla="val 4706"/>
            </a:avLst>
          </a:prstGeom>
          <a:solidFill>
            <a:srgbClr val="F2F7F7"/>
          </a:solidFill>
          <a:ln/>
          <a:effectLst>
            <a:outerShdw sx="100000" sy="100000" kx="0" ky="0" algn="bl" rotWithShape="0" blurRad="88900" dist="25400" dir="5400000">
              <a:srgbClr val="0E2A32">
                <a:alpha val="16000"/>
              </a:srgbClr>
            </a:outerShdw>
          </a:effectLst>
        </p:spPr>
      </p:sp>
      <p:sp>
        <p:nvSpPr>
          <p:cNvPr id="24" name="Shape 18"/>
          <p:cNvSpPr/>
          <p:nvPr/>
        </p:nvSpPr>
        <p:spPr>
          <a:xfrm>
            <a:off x="1377544" y="2130552"/>
            <a:ext cx="768096" cy="768096"/>
          </a:xfrm>
          <a:prstGeom prst="ellipse">
            <a:avLst/>
          </a:prstGeom>
          <a:solidFill>
            <a:srgbClr val="02C39A"/>
          </a:solidFill>
          <a:ln/>
        </p:spPr>
      </p:sp>
      <p:pic>
        <p:nvPicPr>
          <p:cNvPr id="25" name="Image 4" descr="preencoded.png">    </p:cNvPr>
          <p:cNvPicPr>
            <a:picLocks noChangeAspect="1"/>
          </p:cNvPicPr>
          <p:nvPr/>
        </p:nvPicPr>
        <p:blipFill>
          <a:blip r:embed="rId5"/>
          <a:stretch>
            <a:fillRect/>
          </a:stretch>
        </p:blipFill>
        <p:spPr>
          <a:xfrm>
            <a:off x="1577249" y="2330257"/>
            <a:ext cx="368686" cy="368686"/>
          </a:xfrm>
          <a:prstGeom prst="rect">
            <a:avLst/>
          </a:prstGeom>
        </p:spPr>
      </p:pic>
      <p:sp>
        <p:nvSpPr>
          <p:cNvPr id="26" name="Text 19"/>
          <p:cNvSpPr/>
          <p:nvPr/>
        </p:nvSpPr>
        <p:spPr>
          <a:xfrm>
            <a:off x="609448" y="2990088"/>
            <a:ext cx="2304288" cy="411480"/>
          </a:xfrm>
          <a:prstGeom prst="rect">
            <a:avLst/>
          </a:prstGeom>
          <a:noFill/>
          <a:ln/>
        </p:spPr>
        <p:txBody>
          <a:bodyPr wrap="square" rtlCol="0" anchor="ctr"/>
          <a:lstStyle/>
          <a:p>
            <a:pPr rtl="1" algn="ctr" indent="0" marL="0">
              <a:buNone/>
            </a:pPr>
            <a:r>
              <a:rPr lang="ar-SA" altLang="en-US" sz="1700" b="1" dirty="0">
                <a:solidFill>
                  <a:srgbClr val="0E2A32"/>
                </a:solidFill>
                <a:latin typeface="Arial" pitchFamily="34" charset="0"/>
                <a:ea typeface="Arial" pitchFamily="34" charset="-122"/>
                <a:cs typeface="Arial" pitchFamily="34" charset="-120"/>
              </a:rPr>
              <a:t>4. التنبؤ</a:t>
            </a:r>
            <a:endParaRPr lang="ar-SA" sz="1700" dirty="0"/>
          </a:p>
        </p:txBody>
      </p:sp>
      <p:sp>
        <p:nvSpPr>
          <p:cNvPr id="27" name="Text 20"/>
          <p:cNvSpPr/>
          <p:nvPr/>
        </p:nvSpPr>
        <p:spPr>
          <a:xfrm>
            <a:off x="682600" y="3410712"/>
            <a:ext cx="2157984" cy="731520"/>
          </a:xfrm>
          <a:prstGeom prst="rect">
            <a:avLst/>
          </a:prstGeom>
          <a:noFill/>
          <a:ln/>
        </p:spPr>
        <p:txBody>
          <a:bodyPr wrap="square" rtlCol="0" anchor="ctr"/>
          <a:lstStyle/>
          <a:p>
            <a:pPr rtl="1" algn="ctr" indent="0" marL="0">
              <a:lnSpc>
                <a:spcPct val="115000"/>
              </a:lnSpc>
              <a:buNone/>
            </a:pPr>
            <a:r>
              <a:rPr lang="ar-SA" altLang="en-US" sz="1250" dirty="0">
                <a:solidFill>
                  <a:srgbClr val="587076"/>
                </a:solidFill>
                <a:latin typeface="Arial" pitchFamily="34" charset="0"/>
                <a:ea typeface="Arial" pitchFamily="34" charset="-122"/>
                <a:cs typeface="Arial" pitchFamily="34" charset="-120"/>
              </a:rPr>
              <a:t>يطبّق ما تعلمه على حالات جديدة</a:t>
            </a:r>
            <a:endParaRPr lang="ar-SA" sz="1250" dirty="0"/>
          </a:p>
        </p:txBody>
      </p:sp>
      <p:sp>
        <p:nvSpPr>
          <p:cNvPr id="28" name="Shape 21"/>
          <p:cNvSpPr/>
          <p:nvPr/>
        </p:nvSpPr>
        <p:spPr>
          <a:xfrm>
            <a:off x="2194560" y="4892040"/>
            <a:ext cx="7799832" cy="914400"/>
          </a:xfrm>
          <a:prstGeom prst="roundRect">
            <a:avLst>
              <a:gd name="adj" fmla="val 12000"/>
            </a:avLst>
          </a:prstGeom>
          <a:solidFill>
            <a:srgbClr val="E4F7F1"/>
          </a:solidFill>
          <a:ln/>
        </p:spPr>
      </p:sp>
      <p:sp>
        <p:nvSpPr>
          <p:cNvPr id="29" name="Shape 22"/>
          <p:cNvSpPr/>
          <p:nvPr/>
        </p:nvSpPr>
        <p:spPr>
          <a:xfrm>
            <a:off x="9281160" y="5056632"/>
            <a:ext cx="566928" cy="566928"/>
          </a:xfrm>
          <a:prstGeom prst="ellipse">
            <a:avLst/>
          </a:prstGeom>
          <a:solidFill>
            <a:srgbClr val="02C39A"/>
          </a:solidFill>
          <a:ln/>
        </p:spPr>
      </p:sp>
      <p:pic>
        <p:nvPicPr>
          <p:cNvPr id="30" name="Image 5" descr="preencoded.png">    </p:cNvPr>
          <p:cNvPicPr>
            <a:picLocks noChangeAspect="1"/>
          </p:cNvPicPr>
          <p:nvPr/>
        </p:nvPicPr>
        <p:blipFill>
          <a:blip r:embed="rId6"/>
          <a:stretch>
            <a:fillRect/>
          </a:stretch>
        </p:blipFill>
        <p:spPr>
          <a:xfrm>
            <a:off x="9428561" y="5204033"/>
            <a:ext cx="272125" cy="272125"/>
          </a:xfrm>
          <a:prstGeom prst="rect">
            <a:avLst/>
          </a:prstGeom>
        </p:spPr>
      </p:pic>
      <p:sp>
        <p:nvSpPr>
          <p:cNvPr id="31" name="Text 23"/>
          <p:cNvSpPr/>
          <p:nvPr/>
        </p:nvSpPr>
        <p:spPr>
          <a:xfrm>
            <a:off x="2423160" y="4983480"/>
            <a:ext cx="6720840" cy="777240"/>
          </a:xfrm>
          <a:prstGeom prst="rect">
            <a:avLst/>
          </a:prstGeom>
          <a:noFill/>
          <a:ln/>
        </p:spPr>
        <p:txBody>
          <a:bodyPr wrap="square" rtlCol="0" anchor="ctr"/>
          <a:lstStyle/>
          <a:p>
            <a:pPr rtl="1" algn="r" indent="0" marL="0">
              <a:lnSpc>
                <a:spcPct val="115000"/>
              </a:lnSpc>
              <a:buNone/>
            </a:pPr>
            <a:r>
              <a:rPr lang="ar-SA" altLang="en-US" sz="1350" dirty="0">
                <a:solidFill>
                  <a:srgbClr val="16323A"/>
                </a:solidFill>
                <a:latin typeface="Arial" pitchFamily="34" charset="0"/>
                <a:ea typeface="Arial" pitchFamily="34" charset="-122"/>
                <a:cs typeface="Arial" pitchFamily="34" charset="-120"/>
              </a:rPr>
              <a:t>التعلم العميق (Deep Learning) يستخدم «شبكات عصبية» مستوحاة من طريقة عمل الدماغ البشري — وهو التقنية وراء معظم الإنجازات الحديثة.</a:t>
            </a:r>
            <a:endParaRPr lang="ar-SA"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الذكاء الاصطناعي وتعلم الآلة والتعلم العميق</a:t>
            </a:r>
            <a:endParaRPr lang="ar-SA" sz="3100" dirty="0"/>
          </a:p>
        </p:txBody>
      </p:sp>
      <p:sp>
        <p:nvSpPr>
          <p:cNvPr id="5" name="Shape 2"/>
          <p:cNvSpPr/>
          <p:nvPr/>
        </p:nvSpPr>
        <p:spPr>
          <a:xfrm>
            <a:off x="685800" y="1554480"/>
            <a:ext cx="4343400" cy="4343400"/>
          </a:xfrm>
          <a:prstGeom prst="ellipse">
            <a:avLst/>
          </a:prstGeom>
          <a:solidFill>
            <a:srgbClr val="0E2A32"/>
          </a:solidFill>
          <a:ln/>
          <a:effectLst>
            <a:outerShdw sx="100000" sy="100000" kx="0" ky="0" algn="bl" rotWithShape="0" blurRad="88900" dist="25400" dir="5400000">
              <a:srgbClr val="0E2A32">
                <a:alpha val="16000"/>
              </a:srgbClr>
            </a:outerShdw>
          </a:effectLst>
        </p:spPr>
      </p:sp>
      <p:sp>
        <p:nvSpPr>
          <p:cNvPr id="6" name="Shape 3"/>
          <p:cNvSpPr/>
          <p:nvPr/>
        </p:nvSpPr>
        <p:spPr>
          <a:xfrm>
            <a:off x="1303020" y="2624328"/>
            <a:ext cx="3108960" cy="3108960"/>
          </a:xfrm>
          <a:prstGeom prst="ellipse">
            <a:avLst/>
          </a:prstGeom>
          <a:solidFill>
            <a:srgbClr val="028090"/>
          </a:solidFill>
          <a:ln w="19050">
            <a:solidFill>
              <a:srgbClr val="FFFFFF"/>
            </a:solidFill>
            <a:prstDash val="solid"/>
          </a:ln>
        </p:spPr>
      </p:sp>
      <p:sp>
        <p:nvSpPr>
          <p:cNvPr id="7" name="Shape 4"/>
          <p:cNvSpPr/>
          <p:nvPr/>
        </p:nvSpPr>
        <p:spPr>
          <a:xfrm>
            <a:off x="1920240" y="3694176"/>
            <a:ext cx="1874520" cy="1874520"/>
          </a:xfrm>
          <a:prstGeom prst="ellipse">
            <a:avLst/>
          </a:prstGeom>
          <a:solidFill>
            <a:srgbClr val="02C39A"/>
          </a:solidFill>
          <a:ln w="19050">
            <a:solidFill>
              <a:srgbClr val="FFFFFF"/>
            </a:solidFill>
            <a:prstDash val="solid"/>
          </a:ln>
        </p:spPr>
      </p:sp>
      <p:sp>
        <p:nvSpPr>
          <p:cNvPr id="8" name="Text 5"/>
          <p:cNvSpPr/>
          <p:nvPr/>
        </p:nvSpPr>
        <p:spPr>
          <a:xfrm>
            <a:off x="1234440" y="1810512"/>
            <a:ext cx="3246120" cy="685800"/>
          </a:xfrm>
          <a:prstGeom prst="rect">
            <a:avLst/>
          </a:prstGeom>
          <a:noFill/>
          <a:ln/>
        </p:spPr>
        <p:txBody>
          <a:bodyPr wrap="square" lIns="0" tIns="0" rIns="0" bIns="0" rtlCol="0" anchor="ctr"/>
          <a:lstStyle/>
          <a:p>
            <a:pPr rtl="1" algn="ctr" indent="0" marL="0">
              <a:buNone/>
            </a:pPr>
            <a:r>
              <a:rPr lang="ar-SA" altLang="en-US" sz="1500" b="1" dirty="0">
                <a:solidFill>
                  <a:srgbClr val="FFFFFF"/>
                </a:solidFill>
                <a:latin typeface="Arial" pitchFamily="34" charset="0"/>
                <a:ea typeface="Arial" pitchFamily="34" charset="-122"/>
                <a:cs typeface="Arial" pitchFamily="34" charset="-120"/>
              </a:rPr>
              <a:t>الذكاء الاصطناعي</a:t>
            </a:r>
            <a:endParaRPr lang="ar-SA" sz="1500" dirty="0"/>
          </a:p>
          <a:p>
            <a:pPr algn="ctr" indent="0" marL="0">
              <a:buNone/>
            </a:pPr>
            <a:r>
              <a:rPr lang="ar-SA" altLang="en-US" sz="1000" dirty="0">
                <a:solidFill>
                  <a:srgbClr val="CDE9E5"/>
                </a:solidFill>
                <a:latin typeface="Arial" pitchFamily="34" charset="0"/>
                <a:ea typeface="Arial" pitchFamily="34" charset="-122"/>
                <a:cs typeface="Arial" pitchFamily="34" charset="-120"/>
              </a:rPr>
              <a:t>Artificial Intelligence</a:t>
            </a:r>
            <a:endParaRPr lang="ar-SA" sz="1500" dirty="0"/>
          </a:p>
        </p:txBody>
      </p:sp>
      <p:sp>
        <p:nvSpPr>
          <p:cNvPr id="9" name="Text 6"/>
          <p:cNvSpPr/>
          <p:nvPr/>
        </p:nvSpPr>
        <p:spPr>
          <a:xfrm>
            <a:off x="1714500" y="2825496"/>
            <a:ext cx="2286000" cy="640080"/>
          </a:xfrm>
          <a:prstGeom prst="rect">
            <a:avLst/>
          </a:prstGeom>
          <a:noFill/>
          <a:ln/>
        </p:spPr>
        <p:txBody>
          <a:bodyPr wrap="square" lIns="0" tIns="0" rIns="0" bIns="0" rtlCol="0" anchor="ctr"/>
          <a:lstStyle/>
          <a:p>
            <a:pPr rtl="1" algn="ctr" indent="0" marL="0">
              <a:buNone/>
            </a:pPr>
            <a:r>
              <a:rPr lang="ar-SA" altLang="en-US" sz="1400" b="1" dirty="0">
                <a:solidFill>
                  <a:srgbClr val="FFFFFF"/>
                </a:solidFill>
                <a:latin typeface="Arial" pitchFamily="34" charset="0"/>
                <a:ea typeface="Arial" pitchFamily="34" charset="-122"/>
                <a:cs typeface="Arial" pitchFamily="34" charset="-120"/>
              </a:rPr>
              <a:t>تعلم الآلة</a:t>
            </a:r>
            <a:endParaRPr lang="ar-SA" sz="1400" dirty="0"/>
          </a:p>
          <a:p>
            <a:pPr algn="ctr" indent="0" marL="0">
              <a:buNone/>
            </a:pPr>
            <a:r>
              <a:rPr lang="ar-SA" altLang="en-US" sz="950" dirty="0">
                <a:solidFill>
                  <a:srgbClr val="D8F3EC"/>
                </a:solidFill>
                <a:latin typeface="Arial" pitchFamily="34" charset="0"/>
                <a:ea typeface="Arial" pitchFamily="34" charset="-122"/>
                <a:cs typeface="Arial" pitchFamily="34" charset="-120"/>
              </a:rPr>
              <a:t>Machine Learning</a:t>
            </a:r>
            <a:endParaRPr lang="ar-SA" sz="1400" dirty="0"/>
          </a:p>
        </p:txBody>
      </p:sp>
      <p:sp>
        <p:nvSpPr>
          <p:cNvPr id="10" name="Text 7"/>
          <p:cNvSpPr/>
          <p:nvPr/>
        </p:nvSpPr>
        <p:spPr>
          <a:xfrm>
            <a:off x="2057400" y="4197096"/>
            <a:ext cx="1600200" cy="868680"/>
          </a:xfrm>
          <a:prstGeom prst="rect">
            <a:avLst/>
          </a:prstGeom>
          <a:noFill/>
          <a:ln/>
        </p:spPr>
        <p:txBody>
          <a:bodyPr wrap="square" lIns="0" tIns="0" rIns="0" bIns="0" rtlCol="0" anchor="ctr"/>
          <a:lstStyle/>
          <a:p>
            <a:pPr rtl="1" algn="ctr" indent="0" marL="0">
              <a:buNone/>
            </a:pPr>
            <a:r>
              <a:rPr lang="ar-SA" altLang="en-US" sz="1350" b="1" dirty="0">
                <a:solidFill>
                  <a:srgbClr val="0E2A32"/>
                </a:solidFill>
                <a:latin typeface="Arial" pitchFamily="34" charset="0"/>
                <a:ea typeface="Arial" pitchFamily="34" charset="-122"/>
                <a:cs typeface="Arial" pitchFamily="34" charset="-120"/>
              </a:rPr>
              <a:t>التعلم العميق</a:t>
            </a:r>
            <a:endParaRPr lang="ar-SA" sz="1350" dirty="0"/>
          </a:p>
          <a:p>
            <a:pPr algn="ctr" indent="0" marL="0">
              <a:buNone/>
            </a:pPr>
            <a:r>
              <a:rPr lang="ar-SA" altLang="en-US" sz="950" dirty="0">
                <a:solidFill>
                  <a:srgbClr val="0B4F42"/>
                </a:solidFill>
                <a:latin typeface="Arial" pitchFamily="34" charset="0"/>
                <a:ea typeface="Arial" pitchFamily="34" charset="-122"/>
                <a:cs typeface="Arial" pitchFamily="34" charset="-120"/>
              </a:rPr>
              <a:t>Deep Learning</a:t>
            </a:r>
            <a:endParaRPr lang="ar-SA" sz="1350" dirty="0"/>
          </a:p>
        </p:txBody>
      </p:sp>
      <p:sp>
        <p:nvSpPr>
          <p:cNvPr id="11" name="Shape 8"/>
          <p:cNvSpPr/>
          <p:nvPr/>
        </p:nvSpPr>
        <p:spPr>
          <a:xfrm>
            <a:off x="11140135" y="1618488"/>
            <a:ext cx="384048" cy="384048"/>
          </a:xfrm>
          <a:prstGeom prst="ellipse">
            <a:avLst/>
          </a:prstGeom>
          <a:solidFill>
            <a:srgbClr val="0E2A32"/>
          </a:solidFill>
          <a:ln/>
        </p:spPr>
      </p:sp>
      <p:sp>
        <p:nvSpPr>
          <p:cNvPr id="12" name="Text 9"/>
          <p:cNvSpPr/>
          <p:nvPr/>
        </p:nvSpPr>
        <p:spPr>
          <a:xfrm>
            <a:off x="5440680" y="1600200"/>
            <a:ext cx="5425135" cy="411480"/>
          </a:xfrm>
          <a:prstGeom prst="rect">
            <a:avLst/>
          </a:prstGeom>
          <a:noFill/>
          <a:ln/>
        </p:spPr>
        <p:txBody>
          <a:bodyPr wrap="square" rtlCol="0" anchor="ctr"/>
          <a:lstStyle/>
          <a:p>
            <a:pPr rtl="1" algn="r" indent="0" marL="0">
              <a:buNone/>
            </a:pPr>
            <a:r>
              <a:rPr lang="ar-SA" altLang="en-US" sz="1650" b="1" dirty="0">
                <a:solidFill>
                  <a:srgbClr val="0E2A32"/>
                </a:solidFill>
                <a:latin typeface="Arial" pitchFamily="34" charset="0"/>
                <a:ea typeface="Arial" pitchFamily="34" charset="-122"/>
                <a:cs typeface="Arial" pitchFamily="34" charset="-120"/>
              </a:rPr>
              <a:t>الذكاء الاصطناعي (AI)</a:t>
            </a:r>
            <a:endParaRPr lang="ar-SA" sz="1650" dirty="0"/>
          </a:p>
        </p:txBody>
      </p:sp>
      <p:sp>
        <p:nvSpPr>
          <p:cNvPr id="13" name="Text 10"/>
          <p:cNvSpPr/>
          <p:nvPr/>
        </p:nvSpPr>
        <p:spPr>
          <a:xfrm>
            <a:off x="5440680" y="2029968"/>
            <a:ext cx="5425135" cy="82296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المظلة الأشمل: أي نظام يحاكي قدرات الإنسان الذهنية — بأي طريقة كانت.</a:t>
            </a:r>
            <a:endParaRPr lang="ar-SA" sz="1300" dirty="0"/>
          </a:p>
        </p:txBody>
      </p:sp>
      <p:sp>
        <p:nvSpPr>
          <p:cNvPr id="14" name="Shape 11"/>
          <p:cNvSpPr/>
          <p:nvPr/>
        </p:nvSpPr>
        <p:spPr>
          <a:xfrm>
            <a:off x="11140135" y="2990088"/>
            <a:ext cx="384048" cy="384048"/>
          </a:xfrm>
          <a:prstGeom prst="ellipse">
            <a:avLst/>
          </a:prstGeom>
          <a:solidFill>
            <a:srgbClr val="028090"/>
          </a:solidFill>
          <a:ln/>
        </p:spPr>
      </p:sp>
      <p:sp>
        <p:nvSpPr>
          <p:cNvPr id="15" name="Text 12"/>
          <p:cNvSpPr/>
          <p:nvPr/>
        </p:nvSpPr>
        <p:spPr>
          <a:xfrm>
            <a:off x="5440680" y="2971800"/>
            <a:ext cx="5425135" cy="411480"/>
          </a:xfrm>
          <a:prstGeom prst="rect">
            <a:avLst/>
          </a:prstGeom>
          <a:noFill/>
          <a:ln/>
        </p:spPr>
        <p:txBody>
          <a:bodyPr wrap="square" rtlCol="0" anchor="ctr"/>
          <a:lstStyle/>
          <a:p>
            <a:pPr rtl="1" algn="r" indent="0" marL="0">
              <a:buNone/>
            </a:pPr>
            <a:r>
              <a:rPr lang="ar-SA" altLang="en-US" sz="1650" b="1" dirty="0">
                <a:solidFill>
                  <a:srgbClr val="0E2A32"/>
                </a:solidFill>
                <a:latin typeface="Arial" pitchFamily="34" charset="0"/>
                <a:ea typeface="Arial" pitchFamily="34" charset="-122"/>
                <a:cs typeface="Arial" pitchFamily="34" charset="-120"/>
              </a:rPr>
              <a:t>تعلم الآلة (Machine Learning)</a:t>
            </a:r>
            <a:endParaRPr lang="ar-SA" sz="1650" dirty="0"/>
          </a:p>
        </p:txBody>
      </p:sp>
      <p:sp>
        <p:nvSpPr>
          <p:cNvPr id="16" name="Text 13"/>
          <p:cNvSpPr/>
          <p:nvPr/>
        </p:nvSpPr>
        <p:spPr>
          <a:xfrm>
            <a:off x="5440680" y="3401568"/>
            <a:ext cx="5425135" cy="82296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فرع من الذكاء الاصطناعي: النظام يتعلم من البيانات والأمثلة بدلاً من برمجة كل قاعدة يدوياً.</a:t>
            </a:r>
            <a:endParaRPr lang="ar-SA" sz="1300" dirty="0"/>
          </a:p>
        </p:txBody>
      </p:sp>
      <p:sp>
        <p:nvSpPr>
          <p:cNvPr id="17" name="Shape 14"/>
          <p:cNvSpPr/>
          <p:nvPr/>
        </p:nvSpPr>
        <p:spPr>
          <a:xfrm>
            <a:off x="11140135" y="4361688"/>
            <a:ext cx="384048" cy="384048"/>
          </a:xfrm>
          <a:prstGeom prst="ellipse">
            <a:avLst/>
          </a:prstGeom>
          <a:solidFill>
            <a:srgbClr val="02C39A"/>
          </a:solidFill>
          <a:ln/>
        </p:spPr>
      </p:sp>
      <p:sp>
        <p:nvSpPr>
          <p:cNvPr id="18" name="Text 15"/>
          <p:cNvSpPr/>
          <p:nvPr/>
        </p:nvSpPr>
        <p:spPr>
          <a:xfrm>
            <a:off x="5440680" y="4343400"/>
            <a:ext cx="5425135" cy="411480"/>
          </a:xfrm>
          <a:prstGeom prst="rect">
            <a:avLst/>
          </a:prstGeom>
          <a:noFill/>
          <a:ln/>
        </p:spPr>
        <p:txBody>
          <a:bodyPr wrap="square" rtlCol="0" anchor="ctr"/>
          <a:lstStyle/>
          <a:p>
            <a:pPr rtl="1" algn="r" indent="0" marL="0">
              <a:buNone/>
            </a:pPr>
            <a:r>
              <a:rPr lang="ar-SA" altLang="en-US" sz="1650" b="1" dirty="0">
                <a:solidFill>
                  <a:srgbClr val="0E2A32"/>
                </a:solidFill>
                <a:latin typeface="Arial" pitchFamily="34" charset="0"/>
                <a:ea typeface="Arial" pitchFamily="34" charset="-122"/>
                <a:cs typeface="Arial" pitchFamily="34" charset="-120"/>
              </a:rPr>
              <a:t>التعلم العميق (Deep Learning)</a:t>
            </a:r>
            <a:endParaRPr lang="ar-SA" sz="1650" dirty="0"/>
          </a:p>
        </p:txBody>
      </p:sp>
      <p:sp>
        <p:nvSpPr>
          <p:cNvPr id="19" name="Text 16"/>
          <p:cNvSpPr/>
          <p:nvPr/>
        </p:nvSpPr>
        <p:spPr>
          <a:xfrm>
            <a:off x="5440680" y="4773168"/>
            <a:ext cx="5425135" cy="82296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فرع من تعلم الآلة: شبكات عصبية متعددة الطبقات — التقنية وراء ChatGPT وتمييز الصور والصوت.</a:t>
            </a:r>
            <a:endParaRPr lang="ar-SA" sz="1300" dirty="0"/>
          </a:p>
        </p:txBody>
      </p:sp>
      <p:sp>
        <p:nvSpPr>
          <p:cNvPr id="20" name="Text 17"/>
          <p:cNvSpPr/>
          <p:nvPr/>
        </p:nvSpPr>
        <p:spPr>
          <a:xfrm>
            <a:off x="5440680" y="5806440"/>
            <a:ext cx="5425135" cy="548640"/>
          </a:xfrm>
          <a:prstGeom prst="rect">
            <a:avLst/>
          </a:prstGeom>
          <a:noFill/>
          <a:ln/>
        </p:spPr>
        <p:txBody>
          <a:bodyPr wrap="square" rtlCol="0" anchor="ctr"/>
          <a:lstStyle/>
          <a:p>
            <a:pPr rtl="1" algn="r" indent="0" marL="0">
              <a:lnSpc>
                <a:spcPct val="115000"/>
              </a:lnSpc>
              <a:buNone/>
            </a:pPr>
            <a:r>
              <a:rPr lang="ar-SA" altLang="en-US" sz="1400" i="1" dirty="0">
                <a:solidFill>
                  <a:srgbClr val="028090"/>
                </a:solidFill>
                <a:latin typeface="Arial" pitchFamily="34" charset="0"/>
                <a:ea typeface="Arial" pitchFamily="34" charset="-122"/>
                <a:cs typeface="Arial" pitchFamily="34" charset="-120"/>
              </a:rPr>
              <a:t>كل تعلم عميق هو تعلم آلة، وكل تعلم آلة هو ذكاء اصطناعي — والعكس ليس صحيحاً.</a:t>
            </a:r>
            <a:endParaRPr lang="ar-SA"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أنواع الذكاء الاصطناعي</a:t>
            </a:r>
            <a:endParaRPr lang="ar-SA" sz="3100" dirty="0"/>
          </a:p>
        </p:txBody>
      </p:sp>
      <p:sp>
        <p:nvSpPr>
          <p:cNvPr id="5" name="Shape 2"/>
          <p:cNvSpPr/>
          <p:nvPr/>
        </p:nvSpPr>
        <p:spPr>
          <a:xfrm>
            <a:off x="8198968" y="1508760"/>
            <a:ext cx="3566160" cy="3931920"/>
          </a:xfrm>
          <a:prstGeom prst="roundRect">
            <a:avLst>
              <a:gd name="adj" fmla="val 3590"/>
            </a:avLst>
          </a:prstGeom>
          <a:solidFill>
            <a:srgbClr val="FFFFFF"/>
          </a:solidFill>
          <a:ln w="12700">
            <a:solidFill>
              <a:srgbClr val="DCE8E8"/>
            </a:solidFill>
            <a:prstDash val="solid"/>
          </a:ln>
          <a:effectLst>
            <a:outerShdw sx="100000" sy="100000" kx="0" ky="0" algn="bl" rotWithShape="0" blurRad="88900" dist="25400" dir="5400000">
              <a:srgbClr val="0E2A32">
                <a:alpha val="16000"/>
              </a:srgbClr>
            </a:outerShdw>
          </a:effectLst>
        </p:spPr>
      </p:sp>
      <p:sp>
        <p:nvSpPr>
          <p:cNvPr id="6" name="Shape 3"/>
          <p:cNvSpPr/>
          <p:nvPr/>
        </p:nvSpPr>
        <p:spPr>
          <a:xfrm>
            <a:off x="9479128" y="1874520"/>
            <a:ext cx="1005840" cy="1005840"/>
          </a:xfrm>
          <a:prstGeom prst="ellipse">
            <a:avLst/>
          </a:prstGeom>
          <a:solidFill>
            <a:srgbClr val="028090"/>
          </a:solidFill>
          <a:ln/>
        </p:spPr>
      </p:sp>
      <p:pic>
        <p:nvPicPr>
          <p:cNvPr id="7" name="Image 1" descr="preencoded.png">    </p:cNvPr>
          <p:cNvPicPr>
            <a:picLocks noChangeAspect="1"/>
          </p:cNvPicPr>
          <p:nvPr/>
        </p:nvPicPr>
        <p:blipFill>
          <a:blip r:embed="rId2"/>
          <a:stretch>
            <a:fillRect/>
          </a:stretch>
        </p:blipFill>
        <p:spPr>
          <a:xfrm>
            <a:off x="9740646" y="2136038"/>
            <a:ext cx="482803" cy="482803"/>
          </a:xfrm>
          <a:prstGeom prst="rect">
            <a:avLst/>
          </a:prstGeom>
        </p:spPr>
      </p:pic>
      <p:sp>
        <p:nvSpPr>
          <p:cNvPr id="8" name="Text 4"/>
          <p:cNvSpPr/>
          <p:nvPr/>
        </p:nvSpPr>
        <p:spPr>
          <a:xfrm>
            <a:off x="8381848" y="3017520"/>
            <a:ext cx="3200400" cy="457200"/>
          </a:xfrm>
          <a:prstGeom prst="rect">
            <a:avLst/>
          </a:prstGeom>
          <a:noFill/>
          <a:ln/>
        </p:spPr>
        <p:txBody>
          <a:bodyPr wrap="square" rtlCol="0" anchor="ctr"/>
          <a:lstStyle/>
          <a:p>
            <a:pPr rtl="1" algn="ctr" indent="0" marL="0">
              <a:buNone/>
            </a:pPr>
            <a:r>
              <a:rPr lang="ar-SA" altLang="en-US" sz="1800" b="1" dirty="0">
                <a:solidFill>
                  <a:srgbClr val="0E2A32"/>
                </a:solidFill>
                <a:latin typeface="Arial" pitchFamily="34" charset="0"/>
                <a:ea typeface="Arial" pitchFamily="34" charset="-122"/>
                <a:cs typeface="Arial" pitchFamily="34" charset="-120"/>
              </a:rPr>
              <a:t>الذكاء الضيق (ANI)</a:t>
            </a:r>
            <a:endParaRPr lang="ar-SA" sz="1800" dirty="0"/>
          </a:p>
        </p:txBody>
      </p:sp>
      <p:sp>
        <p:nvSpPr>
          <p:cNvPr id="9" name="Text 5"/>
          <p:cNvSpPr/>
          <p:nvPr/>
        </p:nvSpPr>
        <p:spPr>
          <a:xfrm>
            <a:off x="8473288" y="3520440"/>
            <a:ext cx="3017520" cy="1143000"/>
          </a:xfrm>
          <a:prstGeom prst="rect">
            <a:avLst/>
          </a:prstGeom>
          <a:noFill/>
          <a:ln/>
        </p:spPr>
        <p:txBody>
          <a:bodyPr wrap="square" rtlCol="0" anchor="ctr"/>
          <a:lstStyle/>
          <a:p>
            <a:pPr rtl="1" algn="ctr" indent="0" marL="0">
              <a:lnSpc>
                <a:spcPct val="120000"/>
              </a:lnSpc>
              <a:buNone/>
            </a:pPr>
            <a:r>
              <a:rPr lang="ar-SA" altLang="en-US" sz="1350" dirty="0">
                <a:solidFill>
                  <a:srgbClr val="587076"/>
                </a:solidFill>
                <a:latin typeface="Arial" pitchFamily="34" charset="0"/>
                <a:ea typeface="Arial" pitchFamily="34" charset="-122"/>
                <a:cs typeface="Arial" pitchFamily="34" charset="-120"/>
              </a:rPr>
              <a:t>متخصص في مهمة واحدة يتقنها جيداً: تمييز الوجوه، الترجمة، التوصيات.</a:t>
            </a:r>
            <a:endParaRPr lang="ar-SA" sz="1350" dirty="0"/>
          </a:p>
        </p:txBody>
      </p:sp>
      <p:sp>
        <p:nvSpPr>
          <p:cNvPr id="10" name="Shape 6"/>
          <p:cNvSpPr/>
          <p:nvPr/>
        </p:nvSpPr>
        <p:spPr>
          <a:xfrm>
            <a:off x="8610448" y="4754880"/>
            <a:ext cx="2743200" cy="457200"/>
          </a:xfrm>
          <a:prstGeom prst="roundRect">
            <a:avLst>
              <a:gd name="adj" fmla="val 50000"/>
            </a:avLst>
          </a:prstGeom>
          <a:solidFill>
            <a:srgbClr val="E4F7F1"/>
          </a:solidFill>
          <a:ln/>
        </p:spPr>
      </p:sp>
      <p:sp>
        <p:nvSpPr>
          <p:cNvPr id="11" name="Text 7"/>
          <p:cNvSpPr/>
          <p:nvPr/>
        </p:nvSpPr>
        <p:spPr>
          <a:xfrm>
            <a:off x="8610448" y="4754880"/>
            <a:ext cx="2743200" cy="457200"/>
          </a:xfrm>
          <a:prstGeom prst="rect">
            <a:avLst/>
          </a:prstGeom>
          <a:noFill/>
          <a:ln/>
        </p:spPr>
        <p:txBody>
          <a:bodyPr wrap="square" lIns="0" tIns="0" rIns="0" bIns="0" rtlCol="0" anchor="ctr"/>
          <a:lstStyle/>
          <a:p>
            <a:pPr rtl="1" algn="ctr" indent="0" marL="0">
              <a:buNone/>
            </a:pPr>
            <a:r>
              <a:rPr lang="ar-SA" altLang="en-US" sz="1150" b="1" dirty="0">
                <a:solidFill>
                  <a:srgbClr val="028090"/>
                </a:solidFill>
                <a:latin typeface="Arial" pitchFamily="34" charset="0"/>
                <a:ea typeface="Arial" pitchFamily="34" charset="-122"/>
                <a:cs typeface="Arial" pitchFamily="34" charset="-120"/>
              </a:rPr>
              <a:t>موجود في كل مكان اليوم</a:t>
            </a:r>
            <a:endParaRPr lang="ar-SA" sz="1150" dirty="0"/>
          </a:p>
        </p:txBody>
      </p:sp>
      <p:sp>
        <p:nvSpPr>
          <p:cNvPr id="12" name="Shape 8"/>
          <p:cNvSpPr/>
          <p:nvPr/>
        </p:nvSpPr>
        <p:spPr>
          <a:xfrm>
            <a:off x="4312768" y="1508760"/>
            <a:ext cx="3566160" cy="3931920"/>
          </a:xfrm>
          <a:prstGeom prst="roundRect">
            <a:avLst>
              <a:gd name="adj" fmla="val 3590"/>
            </a:avLst>
          </a:prstGeom>
          <a:solidFill>
            <a:srgbClr val="FFFFFF"/>
          </a:solidFill>
          <a:ln w="12700">
            <a:solidFill>
              <a:srgbClr val="DCE8E8"/>
            </a:solidFill>
            <a:prstDash val="solid"/>
          </a:ln>
          <a:effectLst>
            <a:outerShdw sx="100000" sy="100000" kx="0" ky="0" algn="bl" rotWithShape="0" blurRad="88900" dist="25400" dir="5400000">
              <a:srgbClr val="0E2A32">
                <a:alpha val="16000"/>
              </a:srgbClr>
            </a:outerShdw>
          </a:effectLst>
        </p:spPr>
      </p:sp>
      <p:sp>
        <p:nvSpPr>
          <p:cNvPr id="13" name="Shape 9"/>
          <p:cNvSpPr/>
          <p:nvPr/>
        </p:nvSpPr>
        <p:spPr>
          <a:xfrm>
            <a:off x="5592928" y="1874520"/>
            <a:ext cx="1005840" cy="1005840"/>
          </a:xfrm>
          <a:prstGeom prst="ellipse">
            <a:avLst/>
          </a:prstGeom>
          <a:solidFill>
            <a:srgbClr val="02C39A"/>
          </a:solidFill>
          <a:ln/>
        </p:spPr>
      </p:sp>
      <p:pic>
        <p:nvPicPr>
          <p:cNvPr id="14" name="Image 2" descr="preencoded.png">    </p:cNvPr>
          <p:cNvPicPr>
            <a:picLocks noChangeAspect="1"/>
          </p:cNvPicPr>
          <p:nvPr/>
        </p:nvPicPr>
        <p:blipFill>
          <a:blip r:embed="rId3"/>
          <a:stretch>
            <a:fillRect/>
          </a:stretch>
        </p:blipFill>
        <p:spPr>
          <a:xfrm>
            <a:off x="5854446" y="2136038"/>
            <a:ext cx="482803" cy="482803"/>
          </a:xfrm>
          <a:prstGeom prst="rect">
            <a:avLst/>
          </a:prstGeom>
        </p:spPr>
      </p:pic>
      <p:sp>
        <p:nvSpPr>
          <p:cNvPr id="15" name="Text 10"/>
          <p:cNvSpPr/>
          <p:nvPr/>
        </p:nvSpPr>
        <p:spPr>
          <a:xfrm>
            <a:off x="4495648" y="3017520"/>
            <a:ext cx="3200400" cy="457200"/>
          </a:xfrm>
          <a:prstGeom prst="rect">
            <a:avLst/>
          </a:prstGeom>
          <a:noFill/>
          <a:ln/>
        </p:spPr>
        <p:txBody>
          <a:bodyPr wrap="square" rtlCol="0" anchor="ctr"/>
          <a:lstStyle/>
          <a:p>
            <a:pPr rtl="1" algn="ctr" indent="0" marL="0">
              <a:buNone/>
            </a:pPr>
            <a:r>
              <a:rPr lang="ar-SA" altLang="en-US" sz="1800" b="1" dirty="0">
                <a:solidFill>
                  <a:srgbClr val="0E2A32"/>
                </a:solidFill>
                <a:latin typeface="Arial" pitchFamily="34" charset="0"/>
                <a:ea typeface="Arial" pitchFamily="34" charset="-122"/>
                <a:cs typeface="Arial" pitchFamily="34" charset="-120"/>
              </a:rPr>
              <a:t>الذكاء التوليدي</a:t>
            </a:r>
            <a:endParaRPr lang="ar-SA" sz="1800" dirty="0"/>
          </a:p>
        </p:txBody>
      </p:sp>
      <p:sp>
        <p:nvSpPr>
          <p:cNvPr id="16" name="Text 11"/>
          <p:cNvSpPr/>
          <p:nvPr/>
        </p:nvSpPr>
        <p:spPr>
          <a:xfrm>
            <a:off x="4587088" y="3520440"/>
            <a:ext cx="3017520" cy="1143000"/>
          </a:xfrm>
          <a:prstGeom prst="rect">
            <a:avLst/>
          </a:prstGeom>
          <a:noFill/>
          <a:ln/>
        </p:spPr>
        <p:txBody>
          <a:bodyPr wrap="square" rtlCol="0" anchor="ctr"/>
          <a:lstStyle/>
          <a:p>
            <a:pPr rtl="1" algn="ctr" indent="0" marL="0">
              <a:lnSpc>
                <a:spcPct val="120000"/>
              </a:lnSpc>
              <a:buNone/>
            </a:pPr>
            <a:r>
              <a:rPr lang="ar-SA" altLang="en-US" sz="1350" dirty="0">
                <a:solidFill>
                  <a:srgbClr val="587076"/>
                </a:solidFill>
                <a:latin typeface="Arial" pitchFamily="34" charset="0"/>
                <a:ea typeface="Arial" pitchFamily="34" charset="-122"/>
                <a:cs typeface="Arial" pitchFamily="34" charset="-120"/>
              </a:rPr>
              <a:t>يُنتج محتوى جديداً: نصوصاً وصوراً وأصواتاً وفيديو، مثل ChatGPT وMidjourney.</a:t>
            </a:r>
            <a:endParaRPr lang="ar-SA" sz="1350" dirty="0"/>
          </a:p>
        </p:txBody>
      </p:sp>
      <p:sp>
        <p:nvSpPr>
          <p:cNvPr id="17" name="Shape 12"/>
          <p:cNvSpPr/>
          <p:nvPr/>
        </p:nvSpPr>
        <p:spPr>
          <a:xfrm>
            <a:off x="4724248" y="4754880"/>
            <a:ext cx="2743200" cy="457200"/>
          </a:xfrm>
          <a:prstGeom prst="roundRect">
            <a:avLst>
              <a:gd name="adj" fmla="val 50000"/>
            </a:avLst>
          </a:prstGeom>
          <a:solidFill>
            <a:srgbClr val="E4F7F1"/>
          </a:solidFill>
          <a:ln/>
        </p:spPr>
      </p:sp>
      <p:sp>
        <p:nvSpPr>
          <p:cNvPr id="18" name="Text 13"/>
          <p:cNvSpPr/>
          <p:nvPr/>
        </p:nvSpPr>
        <p:spPr>
          <a:xfrm>
            <a:off x="4724248" y="4754880"/>
            <a:ext cx="2743200" cy="457200"/>
          </a:xfrm>
          <a:prstGeom prst="rect">
            <a:avLst/>
          </a:prstGeom>
          <a:noFill/>
          <a:ln/>
        </p:spPr>
        <p:txBody>
          <a:bodyPr wrap="square" lIns="0" tIns="0" rIns="0" bIns="0" rtlCol="0" anchor="ctr"/>
          <a:lstStyle/>
          <a:p>
            <a:pPr rtl="1" algn="ctr" indent="0" marL="0">
              <a:buNone/>
            </a:pPr>
            <a:r>
              <a:rPr lang="ar-SA" altLang="en-US" sz="1150" b="1" dirty="0">
                <a:solidFill>
                  <a:srgbClr val="028090"/>
                </a:solidFill>
                <a:latin typeface="Arial" pitchFamily="34" charset="0"/>
                <a:ea typeface="Arial" pitchFamily="34" charset="-122"/>
                <a:cs typeface="Arial" pitchFamily="34" charset="-120"/>
              </a:rPr>
              <a:t>الثورة الحالية منذ 2022</a:t>
            </a:r>
            <a:endParaRPr lang="ar-SA" sz="1150" dirty="0"/>
          </a:p>
        </p:txBody>
      </p:sp>
      <p:sp>
        <p:nvSpPr>
          <p:cNvPr id="19" name="Shape 14"/>
          <p:cNvSpPr/>
          <p:nvPr/>
        </p:nvSpPr>
        <p:spPr>
          <a:xfrm>
            <a:off x="426568" y="1508760"/>
            <a:ext cx="3566160" cy="3931920"/>
          </a:xfrm>
          <a:prstGeom prst="roundRect">
            <a:avLst>
              <a:gd name="adj" fmla="val 3590"/>
            </a:avLst>
          </a:prstGeom>
          <a:solidFill>
            <a:srgbClr val="FFFFFF"/>
          </a:solidFill>
          <a:ln w="12700">
            <a:solidFill>
              <a:srgbClr val="DCE8E8"/>
            </a:solidFill>
            <a:prstDash val="solid"/>
          </a:ln>
          <a:effectLst>
            <a:outerShdw sx="100000" sy="100000" kx="0" ky="0" algn="bl" rotWithShape="0" blurRad="88900" dist="25400" dir="5400000">
              <a:srgbClr val="0E2A32">
                <a:alpha val="16000"/>
              </a:srgbClr>
            </a:outerShdw>
          </a:effectLst>
        </p:spPr>
      </p:sp>
      <p:sp>
        <p:nvSpPr>
          <p:cNvPr id="20" name="Shape 15"/>
          <p:cNvSpPr/>
          <p:nvPr/>
        </p:nvSpPr>
        <p:spPr>
          <a:xfrm>
            <a:off x="1706728" y="1874520"/>
            <a:ext cx="1005840" cy="1005840"/>
          </a:xfrm>
          <a:prstGeom prst="ellipse">
            <a:avLst/>
          </a:prstGeom>
          <a:solidFill>
            <a:srgbClr val="0E2A32"/>
          </a:solidFill>
          <a:ln/>
        </p:spPr>
      </p:sp>
      <p:pic>
        <p:nvPicPr>
          <p:cNvPr id="21" name="Image 3" descr="preencoded.png">    </p:cNvPr>
          <p:cNvPicPr>
            <a:picLocks noChangeAspect="1"/>
          </p:cNvPicPr>
          <p:nvPr/>
        </p:nvPicPr>
        <p:blipFill>
          <a:blip r:embed="rId4"/>
          <a:stretch>
            <a:fillRect/>
          </a:stretch>
        </p:blipFill>
        <p:spPr>
          <a:xfrm>
            <a:off x="1968246" y="2136038"/>
            <a:ext cx="482803" cy="482803"/>
          </a:xfrm>
          <a:prstGeom prst="rect">
            <a:avLst/>
          </a:prstGeom>
        </p:spPr>
      </p:pic>
      <p:sp>
        <p:nvSpPr>
          <p:cNvPr id="22" name="Text 16"/>
          <p:cNvSpPr/>
          <p:nvPr/>
        </p:nvSpPr>
        <p:spPr>
          <a:xfrm>
            <a:off x="609448" y="3017520"/>
            <a:ext cx="3200400" cy="457200"/>
          </a:xfrm>
          <a:prstGeom prst="rect">
            <a:avLst/>
          </a:prstGeom>
          <a:noFill/>
          <a:ln/>
        </p:spPr>
        <p:txBody>
          <a:bodyPr wrap="square" rtlCol="0" anchor="ctr"/>
          <a:lstStyle/>
          <a:p>
            <a:pPr rtl="1" algn="ctr" indent="0" marL="0">
              <a:buNone/>
            </a:pPr>
            <a:r>
              <a:rPr lang="ar-SA" altLang="en-US" sz="1800" b="1" dirty="0">
                <a:solidFill>
                  <a:srgbClr val="0E2A32"/>
                </a:solidFill>
                <a:latin typeface="Arial" pitchFamily="34" charset="0"/>
                <a:ea typeface="Arial" pitchFamily="34" charset="-122"/>
                <a:cs typeface="Arial" pitchFamily="34" charset="-120"/>
              </a:rPr>
              <a:t>الذكاء العام (AGI)</a:t>
            </a:r>
            <a:endParaRPr lang="ar-SA" sz="1800" dirty="0"/>
          </a:p>
        </p:txBody>
      </p:sp>
      <p:sp>
        <p:nvSpPr>
          <p:cNvPr id="23" name="Text 17"/>
          <p:cNvSpPr/>
          <p:nvPr/>
        </p:nvSpPr>
        <p:spPr>
          <a:xfrm>
            <a:off x="700888" y="3520440"/>
            <a:ext cx="3017520" cy="1143000"/>
          </a:xfrm>
          <a:prstGeom prst="rect">
            <a:avLst/>
          </a:prstGeom>
          <a:noFill/>
          <a:ln/>
        </p:spPr>
        <p:txBody>
          <a:bodyPr wrap="square" rtlCol="0" anchor="ctr"/>
          <a:lstStyle/>
          <a:p>
            <a:pPr rtl="1" algn="ctr" indent="0" marL="0">
              <a:lnSpc>
                <a:spcPct val="120000"/>
              </a:lnSpc>
              <a:buNone/>
            </a:pPr>
            <a:r>
              <a:rPr lang="ar-SA" altLang="en-US" sz="1350" dirty="0">
                <a:solidFill>
                  <a:srgbClr val="587076"/>
                </a:solidFill>
                <a:latin typeface="Arial" pitchFamily="34" charset="0"/>
                <a:ea typeface="Arial" pitchFamily="34" charset="-122"/>
                <a:cs typeface="Arial" pitchFamily="34" charset="-120"/>
              </a:rPr>
              <a:t>آلة تضاهي الإنسان في كل المهام الذهنية وتنقل تعلمها بين المجالات.</a:t>
            </a:r>
            <a:endParaRPr lang="ar-SA" sz="1350" dirty="0"/>
          </a:p>
        </p:txBody>
      </p:sp>
      <p:sp>
        <p:nvSpPr>
          <p:cNvPr id="24" name="Shape 18"/>
          <p:cNvSpPr/>
          <p:nvPr/>
        </p:nvSpPr>
        <p:spPr>
          <a:xfrm>
            <a:off x="838048" y="4754880"/>
            <a:ext cx="2743200" cy="457200"/>
          </a:xfrm>
          <a:prstGeom prst="roundRect">
            <a:avLst>
              <a:gd name="adj" fmla="val 50000"/>
            </a:avLst>
          </a:prstGeom>
          <a:solidFill>
            <a:srgbClr val="EDF1F2"/>
          </a:solidFill>
          <a:ln/>
        </p:spPr>
      </p:sp>
      <p:sp>
        <p:nvSpPr>
          <p:cNvPr id="25" name="Text 19"/>
          <p:cNvSpPr/>
          <p:nvPr/>
        </p:nvSpPr>
        <p:spPr>
          <a:xfrm>
            <a:off x="838048" y="4754880"/>
            <a:ext cx="2743200" cy="457200"/>
          </a:xfrm>
          <a:prstGeom prst="rect">
            <a:avLst/>
          </a:prstGeom>
          <a:noFill/>
          <a:ln/>
        </p:spPr>
        <p:txBody>
          <a:bodyPr wrap="square" lIns="0" tIns="0" rIns="0" bIns="0" rtlCol="0" anchor="ctr"/>
          <a:lstStyle/>
          <a:p>
            <a:pPr rtl="1" algn="ctr" indent="0" marL="0">
              <a:buNone/>
            </a:pPr>
            <a:r>
              <a:rPr lang="ar-SA" altLang="en-US" sz="1150" b="1" dirty="0">
                <a:solidFill>
                  <a:srgbClr val="0E2A32"/>
                </a:solidFill>
                <a:latin typeface="Arial" pitchFamily="34" charset="0"/>
                <a:ea typeface="Arial" pitchFamily="34" charset="-122"/>
                <a:cs typeface="Arial" pitchFamily="34" charset="-120"/>
              </a:rPr>
              <a:t>لم يتحقق بعد — هدف بحثي</a:t>
            </a:r>
            <a:endParaRPr lang="ar-SA" sz="1150" dirty="0"/>
          </a:p>
        </p:txBody>
      </p:sp>
      <p:sp>
        <p:nvSpPr>
          <p:cNvPr id="26" name="Text 20"/>
          <p:cNvSpPr/>
          <p:nvPr/>
        </p:nvSpPr>
        <p:spPr>
          <a:xfrm>
            <a:off x="548640" y="5760720"/>
            <a:ext cx="11094415" cy="411480"/>
          </a:xfrm>
          <a:prstGeom prst="rect">
            <a:avLst/>
          </a:prstGeom>
          <a:noFill/>
          <a:ln/>
        </p:spPr>
        <p:txBody>
          <a:bodyPr wrap="square" rtlCol="0" anchor="ctr"/>
          <a:lstStyle/>
          <a:p>
            <a:pPr rtl="1" algn="ctr" indent="0" marL="0">
              <a:buNone/>
            </a:pPr>
            <a:r>
              <a:rPr lang="ar-SA" altLang="en-US" sz="1400" i="1" dirty="0">
                <a:solidFill>
                  <a:srgbClr val="028090"/>
                </a:solidFill>
                <a:latin typeface="Arial" pitchFamily="34" charset="0"/>
                <a:ea typeface="Arial" pitchFamily="34" charset="-122"/>
                <a:cs typeface="Arial" pitchFamily="34" charset="-120"/>
              </a:rPr>
              <a:t>كل ما تستخدمه اليوم هو ذكاء «ضيق» أو «توليدي» — الذكاء العام ما زال في المختبرات وأفلام الخيال.</a:t>
            </a:r>
            <a:endParaRPr lang="ar-SA"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في جيبك: هاتفك الذكي</a:t>
            </a:r>
            <a:endParaRPr lang="ar-SA" sz="3100" dirty="0"/>
          </a:p>
        </p:txBody>
      </p:sp>
      <p:sp>
        <p:nvSpPr>
          <p:cNvPr id="5" name="Shape 2"/>
          <p:cNvSpPr/>
          <p:nvPr/>
        </p:nvSpPr>
        <p:spPr>
          <a:xfrm>
            <a:off x="6255868" y="1600200"/>
            <a:ext cx="5440680" cy="1920240"/>
          </a:xfrm>
          <a:prstGeom prst="roundRect">
            <a:avLst>
              <a:gd name="adj" fmla="val 5714"/>
            </a:avLst>
          </a:prstGeom>
          <a:solidFill>
            <a:srgbClr val="F2F7F7"/>
          </a:solidFill>
          <a:ln/>
          <a:effectLst>
            <a:outerShdw sx="100000" sy="100000" kx="0" ky="0" algn="bl" rotWithShape="0" blurRad="88900" dist="25400" dir="5400000">
              <a:srgbClr val="0E2A32">
                <a:alpha val="16000"/>
              </a:srgbClr>
            </a:outerShdw>
          </a:effectLst>
        </p:spPr>
      </p:sp>
      <p:sp>
        <p:nvSpPr>
          <p:cNvPr id="6" name="Shape 3"/>
          <p:cNvSpPr/>
          <p:nvPr/>
        </p:nvSpPr>
        <p:spPr>
          <a:xfrm>
            <a:off x="10644988" y="2157984"/>
            <a:ext cx="804672" cy="804672"/>
          </a:xfrm>
          <a:prstGeom prst="ellipse">
            <a:avLst/>
          </a:prstGeom>
          <a:solidFill>
            <a:srgbClr val="028090"/>
          </a:solidFill>
          <a:ln/>
        </p:spPr>
      </p:sp>
      <p:pic>
        <p:nvPicPr>
          <p:cNvPr id="7" name="Image 1" descr="preencoded.png">    </p:cNvPr>
          <p:cNvPicPr>
            <a:picLocks noChangeAspect="1"/>
          </p:cNvPicPr>
          <p:nvPr/>
        </p:nvPicPr>
        <p:blipFill>
          <a:blip r:embed="rId2"/>
          <a:stretch>
            <a:fillRect/>
          </a:stretch>
        </p:blipFill>
        <p:spPr>
          <a:xfrm>
            <a:off x="10854202" y="2367199"/>
            <a:ext cx="386243" cy="386243"/>
          </a:xfrm>
          <a:prstGeom prst="rect">
            <a:avLst/>
          </a:prstGeom>
        </p:spPr>
      </p:pic>
      <p:sp>
        <p:nvSpPr>
          <p:cNvPr id="8" name="Text 4"/>
          <p:cNvSpPr/>
          <p:nvPr/>
        </p:nvSpPr>
        <p:spPr>
          <a:xfrm>
            <a:off x="6530188" y="187452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المساعد الصوتي</a:t>
            </a:r>
            <a:endParaRPr lang="ar-SA" sz="1700" dirty="0"/>
          </a:p>
        </p:txBody>
      </p:sp>
      <p:sp>
        <p:nvSpPr>
          <p:cNvPr id="9" name="Text 5"/>
          <p:cNvSpPr/>
          <p:nvPr/>
        </p:nvSpPr>
        <p:spPr>
          <a:xfrm>
            <a:off x="6530188" y="2331720"/>
            <a:ext cx="3977640" cy="100584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Siri وGoogle Assistant يحولان كلامك إلى نص ويفهمان طلبك وينفذانه.</a:t>
            </a:r>
            <a:endParaRPr lang="ar-SA" sz="1300" dirty="0"/>
          </a:p>
        </p:txBody>
      </p:sp>
      <p:sp>
        <p:nvSpPr>
          <p:cNvPr id="10" name="Shape 6"/>
          <p:cNvSpPr/>
          <p:nvPr/>
        </p:nvSpPr>
        <p:spPr>
          <a:xfrm>
            <a:off x="495148" y="1600200"/>
            <a:ext cx="5440680" cy="1920240"/>
          </a:xfrm>
          <a:prstGeom prst="roundRect">
            <a:avLst>
              <a:gd name="adj" fmla="val 5714"/>
            </a:avLst>
          </a:prstGeom>
          <a:solidFill>
            <a:srgbClr val="F2F7F7"/>
          </a:solidFill>
          <a:ln/>
          <a:effectLst>
            <a:outerShdw sx="100000" sy="100000" kx="0" ky="0" algn="bl" rotWithShape="0" blurRad="88900" dist="25400" dir="5400000">
              <a:srgbClr val="0E2A32">
                <a:alpha val="16000"/>
              </a:srgbClr>
            </a:outerShdw>
          </a:effectLst>
        </p:spPr>
      </p:sp>
      <p:sp>
        <p:nvSpPr>
          <p:cNvPr id="11" name="Shape 7"/>
          <p:cNvSpPr/>
          <p:nvPr/>
        </p:nvSpPr>
        <p:spPr>
          <a:xfrm>
            <a:off x="4884268" y="2157984"/>
            <a:ext cx="804672" cy="804672"/>
          </a:xfrm>
          <a:prstGeom prst="ellipse">
            <a:avLst/>
          </a:prstGeom>
          <a:solidFill>
            <a:srgbClr val="028090"/>
          </a:solidFill>
          <a:ln/>
        </p:spPr>
      </p:sp>
      <p:pic>
        <p:nvPicPr>
          <p:cNvPr id="12" name="Image 2" descr="preencoded.png">    </p:cNvPr>
          <p:cNvPicPr>
            <a:picLocks noChangeAspect="1"/>
          </p:cNvPicPr>
          <p:nvPr/>
        </p:nvPicPr>
        <p:blipFill>
          <a:blip r:embed="rId3"/>
          <a:stretch>
            <a:fillRect/>
          </a:stretch>
        </p:blipFill>
        <p:spPr>
          <a:xfrm>
            <a:off x="5093482" y="2367199"/>
            <a:ext cx="386243" cy="386243"/>
          </a:xfrm>
          <a:prstGeom prst="rect">
            <a:avLst/>
          </a:prstGeom>
        </p:spPr>
      </p:pic>
      <p:sp>
        <p:nvSpPr>
          <p:cNvPr id="13" name="Text 8"/>
          <p:cNvSpPr/>
          <p:nvPr/>
        </p:nvSpPr>
        <p:spPr>
          <a:xfrm>
            <a:off x="769468" y="187452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الكاميرا والصور</a:t>
            </a:r>
            <a:endParaRPr lang="ar-SA" sz="1700" dirty="0"/>
          </a:p>
        </p:txBody>
      </p:sp>
      <p:sp>
        <p:nvSpPr>
          <p:cNvPr id="14" name="Text 9"/>
          <p:cNvSpPr/>
          <p:nvPr/>
        </p:nvSpPr>
        <p:spPr>
          <a:xfrm>
            <a:off x="769468" y="2331720"/>
            <a:ext cx="3977640" cy="100584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تحسين تلقائي للإضاءة، وضع ليلي، وفتح القفل ببصمة الوجه.</a:t>
            </a:r>
            <a:endParaRPr lang="ar-SA" sz="1300" dirty="0"/>
          </a:p>
        </p:txBody>
      </p:sp>
      <p:sp>
        <p:nvSpPr>
          <p:cNvPr id="15" name="Shape 10"/>
          <p:cNvSpPr/>
          <p:nvPr/>
        </p:nvSpPr>
        <p:spPr>
          <a:xfrm>
            <a:off x="6255868" y="3840480"/>
            <a:ext cx="5440680" cy="1920240"/>
          </a:xfrm>
          <a:prstGeom prst="roundRect">
            <a:avLst>
              <a:gd name="adj" fmla="val 5714"/>
            </a:avLst>
          </a:prstGeom>
          <a:solidFill>
            <a:srgbClr val="F2F7F7"/>
          </a:solidFill>
          <a:ln/>
          <a:effectLst>
            <a:outerShdw sx="100000" sy="100000" kx="0" ky="0" algn="bl" rotWithShape="0" blurRad="88900" dist="25400" dir="5400000">
              <a:srgbClr val="0E2A32">
                <a:alpha val="16000"/>
              </a:srgbClr>
            </a:outerShdw>
          </a:effectLst>
        </p:spPr>
      </p:sp>
      <p:sp>
        <p:nvSpPr>
          <p:cNvPr id="16" name="Shape 11"/>
          <p:cNvSpPr/>
          <p:nvPr/>
        </p:nvSpPr>
        <p:spPr>
          <a:xfrm>
            <a:off x="10644988" y="4398264"/>
            <a:ext cx="804672" cy="804672"/>
          </a:xfrm>
          <a:prstGeom prst="ellipse">
            <a:avLst/>
          </a:prstGeom>
          <a:solidFill>
            <a:srgbClr val="028090"/>
          </a:solidFill>
          <a:ln/>
        </p:spPr>
      </p:sp>
      <p:pic>
        <p:nvPicPr>
          <p:cNvPr id="17" name="Image 3" descr="preencoded.png">    </p:cNvPr>
          <p:cNvPicPr>
            <a:picLocks noChangeAspect="1"/>
          </p:cNvPicPr>
          <p:nvPr/>
        </p:nvPicPr>
        <p:blipFill>
          <a:blip r:embed="rId4"/>
          <a:stretch>
            <a:fillRect/>
          </a:stretch>
        </p:blipFill>
        <p:spPr>
          <a:xfrm>
            <a:off x="10854202" y="4607479"/>
            <a:ext cx="386243" cy="386243"/>
          </a:xfrm>
          <a:prstGeom prst="rect">
            <a:avLst/>
          </a:prstGeom>
        </p:spPr>
      </p:pic>
      <p:sp>
        <p:nvSpPr>
          <p:cNvPr id="18" name="Text 12"/>
          <p:cNvSpPr/>
          <p:nvPr/>
        </p:nvSpPr>
        <p:spPr>
          <a:xfrm>
            <a:off x="6530188" y="411480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لوحة المفاتيح</a:t>
            </a:r>
            <a:endParaRPr lang="ar-SA" sz="1700" dirty="0"/>
          </a:p>
        </p:txBody>
      </p:sp>
      <p:sp>
        <p:nvSpPr>
          <p:cNvPr id="19" name="Text 13"/>
          <p:cNvSpPr/>
          <p:nvPr/>
        </p:nvSpPr>
        <p:spPr>
          <a:xfrm>
            <a:off x="6530188" y="4572000"/>
            <a:ext cx="3977640" cy="100584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التصحيح التلقائي واقتراح الكلمة التالية يتعلمان من أسلوب كتابتك.</a:t>
            </a:r>
            <a:endParaRPr lang="ar-SA" sz="1300" dirty="0"/>
          </a:p>
        </p:txBody>
      </p:sp>
      <p:sp>
        <p:nvSpPr>
          <p:cNvPr id="20" name="Shape 14"/>
          <p:cNvSpPr/>
          <p:nvPr/>
        </p:nvSpPr>
        <p:spPr>
          <a:xfrm>
            <a:off x="495148" y="3840480"/>
            <a:ext cx="5440680" cy="1920240"/>
          </a:xfrm>
          <a:prstGeom prst="roundRect">
            <a:avLst>
              <a:gd name="adj" fmla="val 5714"/>
            </a:avLst>
          </a:prstGeom>
          <a:solidFill>
            <a:srgbClr val="F2F7F7"/>
          </a:solidFill>
          <a:ln/>
          <a:effectLst>
            <a:outerShdw sx="100000" sy="100000" kx="0" ky="0" algn="bl" rotWithShape="0" blurRad="88900" dist="25400" dir="5400000">
              <a:srgbClr val="0E2A32">
                <a:alpha val="16000"/>
              </a:srgbClr>
            </a:outerShdw>
          </a:effectLst>
        </p:spPr>
      </p:sp>
      <p:sp>
        <p:nvSpPr>
          <p:cNvPr id="21" name="Shape 15"/>
          <p:cNvSpPr/>
          <p:nvPr/>
        </p:nvSpPr>
        <p:spPr>
          <a:xfrm>
            <a:off x="4884268" y="4398264"/>
            <a:ext cx="804672" cy="804672"/>
          </a:xfrm>
          <a:prstGeom prst="ellipse">
            <a:avLst/>
          </a:prstGeom>
          <a:solidFill>
            <a:srgbClr val="028090"/>
          </a:solidFill>
          <a:ln/>
        </p:spPr>
      </p:sp>
      <p:pic>
        <p:nvPicPr>
          <p:cNvPr id="22" name="Image 4" descr="preencoded.png">    </p:cNvPr>
          <p:cNvPicPr>
            <a:picLocks noChangeAspect="1"/>
          </p:cNvPicPr>
          <p:nvPr/>
        </p:nvPicPr>
        <p:blipFill>
          <a:blip r:embed="rId5"/>
          <a:stretch>
            <a:fillRect/>
          </a:stretch>
        </p:blipFill>
        <p:spPr>
          <a:xfrm>
            <a:off x="5093482" y="4607479"/>
            <a:ext cx="386243" cy="386243"/>
          </a:xfrm>
          <a:prstGeom prst="rect">
            <a:avLst/>
          </a:prstGeom>
        </p:spPr>
      </p:pic>
      <p:sp>
        <p:nvSpPr>
          <p:cNvPr id="23" name="Text 16"/>
          <p:cNvSpPr/>
          <p:nvPr/>
        </p:nvSpPr>
        <p:spPr>
          <a:xfrm>
            <a:off x="769468" y="411480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الخرائط والملاحة</a:t>
            </a:r>
            <a:endParaRPr lang="ar-SA" sz="1700" dirty="0"/>
          </a:p>
        </p:txBody>
      </p:sp>
      <p:sp>
        <p:nvSpPr>
          <p:cNvPr id="24" name="Text 17"/>
          <p:cNvSpPr/>
          <p:nvPr/>
        </p:nvSpPr>
        <p:spPr>
          <a:xfrm>
            <a:off x="769468" y="4572000"/>
            <a:ext cx="3977640" cy="100584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حساب أسرع طريق وتوقع الازدحام لحظياً من بيانات ملايين الهواتف.</a:t>
            </a:r>
            <a:endParaRPr lang="ar-SA" sz="1300" dirty="0"/>
          </a:p>
        </p:txBody>
      </p:sp>
      <p:sp>
        <p:nvSpPr>
          <p:cNvPr id="25" name="Text 18"/>
          <p:cNvSpPr/>
          <p:nvPr/>
        </p:nvSpPr>
        <p:spPr>
          <a:xfrm>
            <a:off x="548640" y="6080760"/>
            <a:ext cx="11094415" cy="411480"/>
          </a:xfrm>
          <a:prstGeom prst="rect">
            <a:avLst/>
          </a:prstGeom>
          <a:noFill/>
          <a:ln/>
        </p:spPr>
        <p:txBody>
          <a:bodyPr wrap="square" rtlCol="0" anchor="ctr"/>
          <a:lstStyle/>
          <a:p>
            <a:pPr rtl="1" algn="ctr" indent="0" marL="0">
              <a:buNone/>
            </a:pPr>
            <a:r>
              <a:rPr lang="ar-SA" altLang="en-US" sz="1400" i="1" dirty="0">
                <a:solidFill>
                  <a:srgbClr val="028090"/>
                </a:solidFill>
                <a:latin typeface="Arial" pitchFamily="34" charset="0"/>
                <a:ea typeface="Arial" pitchFamily="34" charset="-122"/>
                <a:cs typeface="Arial" pitchFamily="34" charset="-120"/>
              </a:rPr>
              <a:t>هاتفك يستخدم الذكاء الاصطناعي عشرات المرات يومياً — غالباً دون أن تلاحظ.</a:t>
            </a:r>
            <a:endParaRPr lang="ar-SA"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الترفيه والتواصل الاجتماعي</a:t>
            </a:r>
            <a:endParaRPr lang="ar-SA" sz="3100" dirty="0"/>
          </a:p>
        </p:txBody>
      </p:sp>
      <p:sp>
        <p:nvSpPr>
          <p:cNvPr id="5" name="Shape 2"/>
          <p:cNvSpPr/>
          <p:nvPr/>
        </p:nvSpPr>
        <p:spPr>
          <a:xfrm>
            <a:off x="10865815" y="1673352"/>
            <a:ext cx="777240" cy="777240"/>
          </a:xfrm>
          <a:prstGeom prst="ellipse">
            <a:avLst/>
          </a:prstGeom>
          <a:solidFill>
            <a:srgbClr val="028090"/>
          </a:solidFill>
          <a:ln/>
        </p:spPr>
      </p:sp>
      <p:pic>
        <p:nvPicPr>
          <p:cNvPr id="6" name="Image 1" descr="preencoded.png">    </p:cNvPr>
          <p:cNvPicPr>
            <a:picLocks noChangeAspect="1"/>
          </p:cNvPicPr>
          <p:nvPr/>
        </p:nvPicPr>
        <p:blipFill>
          <a:blip r:embed="rId2"/>
          <a:stretch>
            <a:fillRect/>
          </a:stretch>
        </p:blipFill>
        <p:spPr>
          <a:xfrm>
            <a:off x="11067898" y="1875434"/>
            <a:ext cx="373075" cy="373075"/>
          </a:xfrm>
          <a:prstGeom prst="rect">
            <a:avLst/>
          </a:prstGeom>
        </p:spPr>
      </p:pic>
      <p:sp>
        <p:nvSpPr>
          <p:cNvPr id="7" name="Text 3"/>
          <p:cNvSpPr/>
          <p:nvPr/>
        </p:nvSpPr>
        <p:spPr>
          <a:xfrm>
            <a:off x="1828800" y="1554480"/>
            <a:ext cx="8762695" cy="384048"/>
          </a:xfrm>
          <a:prstGeom prst="rect">
            <a:avLst/>
          </a:prstGeom>
          <a:noFill/>
          <a:ln/>
        </p:spPr>
        <p:txBody>
          <a:bodyPr wrap="square" rtlCol="0" anchor="ctr"/>
          <a:lstStyle/>
          <a:p>
            <a:pPr rtl="1" algn="r" indent="0" marL="0">
              <a:buNone/>
            </a:pPr>
            <a:r>
              <a:rPr lang="ar-SA" altLang="en-US" sz="1650" b="1" dirty="0">
                <a:solidFill>
                  <a:srgbClr val="0E2A32"/>
                </a:solidFill>
                <a:latin typeface="Arial" pitchFamily="34" charset="0"/>
                <a:ea typeface="Arial" pitchFamily="34" charset="-122"/>
                <a:cs typeface="Arial" pitchFamily="34" charset="-120"/>
              </a:rPr>
              <a:t>التوصيات الذكية</a:t>
            </a:r>
            <a:endParaRPr lang="ar-SA" sz="1650" dirty="0"/>
          </a:p>
        </p:txBody>
      </p:sp>
      <p:sp>
        <p:nvSpPr>
          <p:cNvPr id="8" name="Text 4"/>
          <p:cNvSpPr/>
          <p:nvPr/>
        </p:nvSpPr>
        <p:spPr>
          <a:xfrm>
            <a:off x="1828800" y="1938528"/>
            <a:ext cx="8762695" cy="640080"/>
          </a:xfrm>
          <a:prstGeom prst="rect">
            <a:avLst/>
          </a:prstGeom>
          <a:noFill/>
          <a:ln/>
        </p:spPr>
        <p:txBody>
          <a:bodyPr wrap="square" rtlCol="0" anchor="ctr"/>
          <a:lstStyle/>
          <a:p>
            <a:pPr rtl="1" algn="r" indent="0" marL="0">
              <a:lnSpc>
                <a:spcPct val="115000"/>
              </a:lnSpc>
              <a:buNone/>
            </a:pPr>
            <a:r>
              <a:rPr lang="ar-SA" altLang="en-US" sz="1300" dirty="0">
                <a:solidFill>
                  <a:srgbClr val="587076"/>
                </a:solidFill>
                <a:latin typeface="Arial" pitchFamily="34" charset="0"/>
                <a:ea typeface="Arial" pitchFamily="34" charset="-122"/>
                <a:cs typeface="Arial" pitchFamily="34" charset="-120"/>
              </a:rPr>
              <a:t>Netflix وYouTube يحللان ما شاهدته ليقترحا ما يناسب ذوقك — 80% من المشاهدات على Netflix تأتي من التوصيات.</a:t>
            </a:r>
            <a:endParaRPr lang="ar-SA" sz="1300" dirty="0"/>
          </a:p>
        </p:txBody>
      </p:sp>
      <p:sp>
        <p:nvSpPr>
          <p:cNvPr id="9" name="Shape 5"/>
          <p:cNvSpPr/>
          <p:nvPr/>
        </p:nvSpPr>
        <p:spPr>
          <a:xfrm>
            <a:off x="10865815" y="2862072"/>
            <a:ext cx="777240" cy="777240"/>
          </a:xfrm>
          <a:prstGeom prst="ellipse">
            <a:avLst/>
          </a:prstGeom>
          <a:solidFill>
            <a:srgbClr val="00A896"/>
          </a:solidFill>
          <a:ln/>
        </p:spPr>
      </p:sp>
      <p:pic>
        <p:nvPicPr>
          <p:cNvPr id="10" name="Image 2" descr="preencoded.png">    </p:cNvPr>
          <p:cNvPicPr>
            <a:picLocks noChangeAspect="1"/>
          </p:cNvPicPr>
          <p:nvPr/>
        </p:nvPicPr>
        <p:blipFill>
          <a:blip r:embed="rId3"/>
          <a:stretch>
            <a:fillRect/>
          </a:stretch>
        </p:blipFill>
        <p:spPr>
          <a:xfrm>
            <a:off x="11067898" y="3064154"/>
            <a:ext cx="373075" cy="373075"/>
          </a:xfrm>
          <a:prstGeom prst="rect">
            <a:avLst/>
          </a:prstGeom>
        </p:spPr>
      </p:pic>
      <p:sp>
        <p:nvSpPr>
          <p:cNvPr id="11" name="Text 6"/>
          <p:cNvSpPr/>
          <p:nvPr/>
        </p:nvSpPr>
        <p:spPr>
          <a:xfrm>
            <a:off x="1828800" y="2743200"/>
            <a:ext cx="8762695" cy="384048"/>
          </a:xfrm>
          <a:prstGeom prst="rect">
            <a:avLst/>
          </a:prstGeom>
          <a:noFill/>
          <a:ln/>
        </p:spPr>
        <p:txBody>
          <a:bodyPr wrap="square" rtlCol="0" anchor="ctr"/>
          <a:lstStyle/>
          <a:p>
            <a:pPr rtl="1" algn="r" indent="0" marL="0">
              <a:buNone/>
            </a:pPr>
            <a:r>
              <a:rPr lang="ar-SA" altLang="en-US" sz="1650" b="1" dirty="0">
                <a:solidFill>
                  <a:srgbClr val="0E2A32"/>
                </a:solidFill>
                <a:latin typeface="Arial" pitchFamily="34" charset="0"/>
                <a:ea typeface="Arial" pitchFamily="34" charset="-122"/>
                <a:cs typeface="Arial" pitchFamily="34" charset="-120"/>
              </a:rPr>
              <a:t>خلاصة التواصل الاجتماعي</a:t>
            </a:r>
            <a:endParaRPr lang="ar-SA" sz="1650" dirty="0"/>
          </a:p>
        </p:txBody>
      </p:sp>
      <p:sp>
        <p:nvSpPr>
          <p:cNvPr id="12" name="Text 7"/>
          <p:cNvSpPr/>
          <p:nvPr/>
        </p:nvSpPr>
        <p:spPr>
          <a:xfrm>
            <a:off x="1828800" y="3127248"/>
            <a:ext cx="8762695" cy="640080"/>
          </a:xfrm>
          <a:prstGeom prst="rect">
            <a:avLst/>
          </a:prstGeom>
          <a:noFill/>
          <a:ln/>
        </p:spPr>
        <p:txBody>
          <a:bodyPr wrap="square" rtlCol="0" anchor="ctr"/>
          <a:lstStyle/>
          <a:p>
            <a:pPr rtl="1" algn="r" indent="0" marL="0">
              <a:lnSpc>
                <a:spcPct val="115000"/>
              </a:lnSpc>
              <a:buNone/>
            </a:pPr>
            <a:r>
              <a:rPr lang="ar-SA" altLang="en-US" sz="1300" dirty="0">
                <a:solidFill>
                  <a:srgbClr val="587076"/>
                </a:solidFill>
                <a:latin typeface="Arial" pitchFamily="34" charset="0"/>
                <a:ea typeface="Arial" pitchFamily="34" charset="-122"/>
                <a:cs typeface="Arial" pitchFamily="34" charset="-120"/>
              </a:rPr>
              <a:t>ترتيب المنشورات، فلاتر الصور، واكتشاف المحتوى المخالف — كلها خوارزميات تعلم آلي.</a:t>
            </a:r>
            <a:endParaRPr lang="ar-SA" sz="1300" dirty="0"/>
          </a:p>
        </p:txBody>
      </p:sp>
      <p:sp>
        <p:nvSpPr>
          <p:cNvPr id="13" name="Shape 8"/>
          <p:cNvSpPr/>
          <p:nvPr/>
        </p:nvSpPr>
        <p:spPr>
          <a:xfrm>
            <a:off x="10865815" y="4050792"/>
            <a:ext cx="777240" cy="777240"/>
          </a:xfrm>
          <a:prstGeom prst="ellipse">
            <a:avLst/>
          </a:prstGeom>
          <a:solidFill>
            <a:srgbClr val="028090"/>
          </a:solidFill>
          <a:ln/>
        </p:spPr>
      </p:sp>
      <p:pic>
        <p:nvPicPr>
          <p:cNvPr id="14" name="Image 3" descr="preencoded.png">    </p:cNvPr>
          <p:cNvPicPr>
            <a:picLocks noChangeAspect="1"/>
          </p:cNvPicPr>
          <p:nvPr/>
        </p:nvPicPr>
        <p:blipFill>
          <a:blip r:embed="rId4"/>
          <a:stretch>
            <a:fillRect/>
          </a:stretch>
        </p:blipFill>
        <p:spPr>
          <a:xfrm>
            <a:off x="11067898" y="4252874"/>
            <a:ext cx="373075" cy="373075"/>
          </a:xfrm>
          <a:prstGeom prst="rect">
            <a:avLst/>
          </a:prstGeom>
        </p:spPr>
      </p:pic>
      <p:sp>
        <p:nvSpPr>
          <p:cNvPr id="15" name="Text 9"/>
          <p:cNvSpPr/>
          <p:nvPr/>
        </p:nvSpPr>
        <p:spPr>
          <a:xfrm>
            <a:off x="1828800" y="3931920"/>
            <a:ext cx="8762695" cy="384048"/>
          </a:xfrm>
          <a:prstGeom prst="rect">
            <a:avLst/>
          </a:prstGeom>
          <a:noFill/>
          <a:ln/>
        </p:spPr>
        <p:txBody>
          <a:bodyPr wrap="square" rtlCol="0" anchor="ctr"/>
          <a:lstStyle/>
          <a:p>
            <a:pPr rtl="1" algn="r" indent="0" marL="0">
              <a:buNone/>
            </a:pPr>
            <a:r>
              <a:rPr lang="ar-SA" altLang="en-US" sz="1650" b="1" dirty="0">
                <a:solidFill>
                  <a:srgbClr val="0E2A32"/>
                </a:solidFill>
                <a:latin typeface="Arial" pitchFamily="34" charset="0"/>
                <a:ea typeface="Arial" pitchFamily="34" charset="-122"/>
                <a:cs typeface="Arial" pitchFamily="34" charset="-120"/>
              </a:rPr>
              <a:t>الترجمة الفورية</a:t>
            </a:r>
            <a:endParaRPr lang="ar-SA" sz="1650" dirty="0"/>
          </a:p>
        </p:txBody>
      </p:sp>
      <p:sp>
        <p:nvSpPr>
          <p:cNvPr id="16" name="Text 10"/>
          <p:cNvSpPr/>
          <p:nvPr/>
        </p:nvSpPr>
        <p:spPr>
          <a:xfrm>
            <a:off x="1828800" y="4315968"/>
            <a:ext cx="8762695" cy="640080"/>
          </a:xfrm>
          <a:prstGeom prst="rect">
            <a:avLst/>
          </a:prstGeom>
          <a:noFill/>
          <a:ln/>
        </p:spPr>
        <p:txBody>
          <a:bodyPr wrap="square" rtlCol="0" anchor="ctr"/>
          <a:lstStyle/>
          <a:p>
            <a:pPr rtl="1" algn="r" indent="0" marL="0">
              <a:lnSpc>
                <a:spcPct val="115000"/>
              </a:lnSpc>
              <a:buNone/>
            </a:pPr>
            <a:r>
              <a:rPr lang="ar-SA" altLang="en-US" sz="1300" dirty="0">
                <a:solidFill>
                  <a:srgbClr val="587076"/>
                </a:solidFill>
                <a:latin typeface="Arial" pitchFamily="34" charset="0"/>
                <a:ea typeface="Arial" pitchFamily="34" charset="-122"/>
                <a:cs typeface="Arial" pitchFamily="34" charset="-120"/>
              </a:rPr>
              <a:t>ترجمة نص وصوت وصورة بين أكثر من 100 لغة في ثوانٍ، وكسر حاجز اللغة في السفر والدراسة.</a:t>
            </a:r>
            <a:endParaRPr lang="ar-SA" sz="1300" dirty="0"/>
          </a:p>
        </p:txBody>
      </p:sp>
      <p:sp>
        <p:nvSpPr>
          <p:cNvPr id="17" name="Shape 11"/>
          <p:cNvSpPr/>
          <p:nvPr/>
        </p:nvSpPr>
        <p:spPr>
          <a:xfrm>
            <a:off x="10865815" y="5239512"/>
            <a:ext cx="777240" cy="777240"/>
          </a:xfrm>
          <a:prstGeom prst="ellipse">
            <a:avLst/>
          </a:prstGeom>
          <a:solidFill>
            <a:srgbClr val="00A896"/>
          </a:solidFill>
          <a:ln/>
        </p:spPr>
      </p:sp>
      <p:pic>
        <p:nvPicPr>
          <p:cNvPr id="18" name="Image 4" descr="preencoded.png">    </p:cNvPr>
          <p:cNvPicPr>
            <a:picLocks noChangeAspect="1"/>
          </p:cNvPicPr>
          <p:nvPr/>
        </p:nvPicPr>
        <p:blipFill>
          <a:blip r:embed="rId5"/>
          <a:stretch>
            <a:fillRect/>
          </a:stretch>
        </p:blipFill>
        <p:spPr>
          <a:xfrm>
            <a:off x="11067898" y="5441594"/>
            <a:ext cx="373075" cy="373075"/>
          </a:xfrm>
          <a:prstGeom prst="rect">
            <a:avLst/>
          </a:prstGeom>
        </p:spPr>
      </p:pic>
      <p:sp>
        <p:nvSpPr>
          <p:cNvPr id="19" name="Text 12"/>
          <p:cNvSpPr/>
          <p:nvPr/>
        </p:nvSpPr>
        <p:spPr>
          <a:xfrm>
            <a:off x="1828800" y="5120640"/>
            <a:ext cx="8762695" cy="384048"/>
          </a:xfrm>
          <a:prstGeom prst="rect">
            <a:avLst/>
          </a:prstGeom>
          <a:noFill/>
          <a:ln/>
        </p:spPr>
        <p:txBody>
          <a:bodyPr wrap="square" rtlCol="0" anchor="ctr"/>
          <a:lstStyle/>
          <a:p>
            <a:pPr rtl="1" algn="r" indent="0" marL="0">
              <a:buNone/>
            </a:pPr>
            <a:r>
              <a:rPr lang="ar-SA" altLang="en-US" sz="1650" b="1" dirty="0">
                <a:solidFill>
                  <a:srgbClr val="0E2A32"/>
                </a:solidFill>
                <a:latin typeface="Arial" pitchFamily="34" charset="0"/>
                <a:ea typeface="Arial" pitchFamily="34" charset="-122"/>
                <a:cs typeface="Arial" pitchFamily="34" charset="-120"/>
              </a:rPr>
              <a:t>الموسيقى والألعاب</a:t>
            </a:r>
            <a:endParaRPr lang="ar-SA" sz="1650" dirty="0"/>
          </a:p>
        </p:txBody>
      </p:sp>
      <p:sp>
        <p:nvSpPr>
          <p:cNvPr id="20" name="Text 13"/>
          <p:cNvSpPr/>
          <p:nvPr/>
        </p:nvSpPr>
        <p:spPr>
          <a:xfrm>
            <a:off x="1828800" y="5504688"/>
            <a:ext cx="8762695" cy="640080"/>
          </a:xfrm>
          <a:prstGeom prst="rect">
            <a:avLst/>
          </a:prstGeom>
          <a:noFill/>
          <a:ln/>
        </p:spPr>
        <p:txBody>
          <a:bodyPr wrap="square" rtlCol="0" anchor="ctr"/>
          <a:lstStyle/>
          <a:p>
            <a:pPr rtl="1" algn="r" indent="0" marL="0">
              <a:lnSpc>
                <a:spcPct val="115000"/>
              </a:lnSpc>
              <a:buNone/>
            </a:pPr>
            <a:r>
              <a:rPr lang="ar-SA" altLang="en-US" sz="1300" dirty="0">
                <a:solidFill>
                  <a:srgbClr val="587076"/>
                </a:solidFill>
                <a:latin typeface="Arial" pitchFamily="34" charset="0"/>
                <a:ea typeface="Arial" pitchFamily="34" charset="-122"/>
                <a:cs typeface="Arial" pitchFamily="34" charset="-120"/>
              </a:rPr>
              <a:t>قوائم Spotify الأسبوعية المخصصة لك، وخصوم أذكياء يتكيفون مع مستواك في الألعاب.</a:t>
            </a:r>
            <a:endParaRPr lang="ar-SA" sz="1300" dirty="0"/>
          </a:p>
        </p:txBody>
      </p:sp>
      <p:sp>
        <p:nvSpPr>
          <p:cNvPr id="21" name="Shape 14"/>
          <p:cNvSpPr/>
          <p:nvPr/>
        </p:nvSpPr>
        <p:spPr>
          <a:xfrm>
            <a:off x="548640" y="2148840"/>
            <a:ext cx="1417320" cy="2651760"/>
          </a:xfrm>
          <a:prstGeom prst="roundRect">
            <a:avLst>
              <a:gd name="adj" fmla="val 7742"/>
            </a:avLst>
          </a:prstGeom>
          <a:solidFill>
            <a:srgbClr val="0E2A32"/>
          </a:solidFill>
          <a:ln/>
          <a:effectLst>
            <a:outerShdw sx="100000" sy="100000" kx="0" ky="0" algn="bl" rotWithShape="0" blurRad="88900" dist="25400" dir="5400000">
              <a:srgbClr val="0E2A32">
                <a:alpha val="16000"/>
              </a:srgbClr>
            </a:outerShdw>
          </a:effectLst>
        </p:spPr>
      </p:sp>
      <p:sp>
        <p:nvSpPr>
          <p:cNvPr id="22" name="Text 15"/>
          <p:cNvSpPr/>
          <p:nvPr/>
        </p:nvSpPr>
        <p:spPr>
          <a:xfrm>
            <a:off x="548640" y="2514600"/>
            <a:ext cx="1417320" cy="822960"/>
          </a:xfrm>
          <a:prstGeom prst="rect">
            <a:avLst/>
          </a:prstGeom>
          <a:noFill/>
          <a:ln/>
        </p:spPr>
        <p:txBody>
          <a:bodyPr wrap="square" lIns="0" tIns="0" rIns="0" bIns="0" rtlCol="0" anchor="ctr"/>
          <a:lstStyle/>
          <a:p>
            <a:pPr rtl="1" algn="ctr" indent="0" marL="0">
              <a:buNone/>
            </a:pPr>
            <a:r>
              <a:rPr lang="ar-SA" altLang="en-US" sz="4000" b="1" dirty="0">
                <a:solidFill>
                  <a:srgbClr val="02C39A"/>
                </a:solidFill>
                <a:latin typeface="Arial" pitchFamily="34" charset="0"/>
                <a:ea typeface="Arial" pitchFamily="34" charset="-122"/>
                <a:cs typeface="Arial" pitchFamily="34" charset="-120"/>
              </a:rPr>
              <a:t>80%</a:t>
            </a:r>
            <a:endParaRPr lang="ar-SA" sz="4000" dirty="0"/>
          </a:p>
        </p:txBody>
      </p:sp>
      <p:sp>
        <p:nvSpPr>
          <p:cNvPr id="23" name="Text 16"/>
          <p:cNvSpPr/>
          <p:nvPr/>
        </p:nvSpPr>
        <p:spPr>
          <a:xfrm>
            <a:off x="621792" y="3383280"/>
            <a:ext cx="1271016" cy="1188720"/>
          </a:xfrm>
          <a:prstGeom prst="rect">
            <a:avLst/>
          </a:prstGeom>
          <a:noFill/>
          <a:ln/>
        </p:spPr>
        <p:txBody>
          <a:bodyPr wrap="square" rtlCol="0" anchor="ctr"/>
          <a:lstStyle/>
          <a:p>
            <a:pPr rtl="1" algn="ctr" indent="0" marL="0">
              <a:lnSpc>
                <a:spcPct val="115000"/>
              </a:lnSpc>
              <a:buNone/>
            </a:pPr>
            <a:r>
              <a:rPr lang="ar-SA" altLang="en-US" sz="1100" dirty="0">
                <a:solidFill>
                  <a:srgbClr val="CDE9E5"/>
                </a:solidFill>
                <a:latin typeface="Arial" pitchFamily="34" charset="0"/>
                <a:ea typeface="Arial" pitchFamily="34" charset="-122"/>
                <a:cs typeface="Arial" pitchFamily="34" charset="-120"/>
              </a:rPr>
              <a:t>من مشاهدات Netflix مصدرها التوصيات</a:t>
            </a:r>
            <a:endParaRPr lang="ar-SA"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في التعليم والدراسة</a:t>
            </a:r>
            <a:endParaRPr lang="ar-SA" sz="3100" dirty="0"/>
          </a:p>
        </p:txBody>
      </p:sp>
      <p:sp>
        <p:nvSpPr>
          <p:cNvPr id="5" name="Shape 2"/>
          <p:cNvSpPr/>
          <p:nvPr/>
        </p:nvSpPr>
        <p:spPr>
          <a:xfrm>
            <a:off x="6263640" y="1508760"/>
            <a:ext cx="5349240" cy="4206240"/>
          </a:xfrm>
          <a:prstGeom prst="roundRect">
            <a:avLst>
              <a:gd name="adj" fmla="val 3043"/>
            </a:avLst>
          </a:prstGeom>
          <a:solidFill>
            <a:srgbClr val="E4F7F1"/>
          </a:solidFill>
          <a:ln/>
          <a:effectLst>
            <a:outerShdw sx="100000" sy="100000" kx="0" ky="0" algn="bl" rotWithShape="0" blurRad="88900" dist="25400" dir="5400000">
              <a:srgbClr val="0E2A32">
                <a:alpha val="16000"/>
              </a:srgbClr>
            </a:outerShdw>
          </a:effectLst>
        </p:spPr>
      </p:sp>
      <p:sp>
        <p:nvSpPr>
          <p:cNvPr id="6" name="Text 3"/>
          <p:cNvSpPr/>
          <p:nvPr/>
        </p:nvSpPr>
        <p:spPr>
          <a:xfrm>
            <a:off x="6537960" y="1737360"/>
            <a:ext cx="4800600" cy="457200"/>
          </a:xfrm>
          <a:prstGeom prst="rect">
            <a:avLst/>
          </a:prstGeom>
          <a:noFill/>
          <a:ln/>
        </p:spPr>
        <p:txBody>
          <a:bodyPr wrap="square" rtlCol="0" anchor="ctr"/>
          <a:lstStyle/>
          <a:p>
            <a:pPr rtl="1" algn="r" indent="0" marL="0">
              <a:buNone/>
            </a:pPr>
            <a:r>
              <a:rPr lang="ar-SA" altLang="en-US" sz="1800" b="1" dirty="0">
                <a:solidFill>
                  <a:srgbClr val="028090"/>
                </a:solidFill>
                <a:latin typeface="Arial" pitchFamily="34" charset="0"/>
                <a:ea typeface="Arial" pitchFamily="34" charset="-122"/>
                <a:cs typeface="Arial" pitchFamily="34" charset="-120"/>
              </a:rPr>
              <a:t>كيف يساعدك في الدراسة؟</a:t>
            </a:r>
            <a:endParaRPr lang="ar-SA" sz="1800" dirty="0"/>
          </a:p>
        </p:txBody>
      </p:sp>
      <p:sp>
        <p:nvSpPr>
          <p:cNvPr id="7" name="Shape 4"/>
          <p:cNvSpPr/>
          <p:nvPr/>
        </p:nvSpPr>
        <p:spPr>
          <a:xfrm>
            <a:off x="10927080" y="2423160"/>
            <a:ext cx="438912" cy="438912"/>
          </a:xfrm>
          <a:prstGeom prst="ellipse">
            <a:avLst/>
          </a:prstGeom>
          <a:solidFill>
            <a:srgbClr val="02C39A"/>
          </a:solidFill>
          <a:ln/>
        </p:spPr>
      </p:sp>
      <p:pic>
        <p:nvPicPr>
          <p:cNvPr id="8" name="Image 1" descr="preencoded.png">    </p:cNvPr>
          <p:cNvPicPr>
            <a:picLocks noChangeAspect="1"/>
          </p:cNvPicPr>
          <p:nvPr/>
        </p:nvPicPr>
        <p:blipFill>
          <a:blip r:embed="rId2"/>
          <a:stretch>
            <a:fillRect/>
          </a:stretch>
        </p:blipFill>
        <p:spPr>
          <a:xfrm>
            <a:off x="11041197" y="2537277"/>
            <a:ext cx="210678" cy="210678"/>
          </a:xfrm>
          <a:prstGeom prst="rect">
            <a:avLst/>
          </a:prstGeom>
        </p:spPr>
      </p:pic>
      <p:sp>
        <p:nvSpPr>
          <p:cNvPr id="9" name="Text 5"/>
          <p:cNvSpPr/>
          <p:nvPr/>
        </p:nvSpPr>
        <p:spPr>
          <a:xfrm>
            <a:off x="6537960" y="2331720"/>
            <a:ext cx="4206240" cy="777240"/>
          </a:xfrm>
          <a:prstGeom prst="rect">
            <a:avLst/>
          </a:prstGeom>
          <a:noFill/>
          <a:ln/>
        </p:spPr>
        <p:txBody>
          <a:bodyPr wrap="square" rtlCol="0" anchor="t"/>
          <a:lstStyle/>
          <a:p>
            <a:pPr rtl="1" algn="r" indent="0" marL="0">
              <a:lnSpc>
                <a:spcPct val="115000"/>
              </a:lnSpc>
              <a:buNone/>
            </a:pPr>
            <a:r>
              <a:rPr lang="ar-SA" altLang="en-US" sz="1300" dirty="0">
                <a:solidFill>
                  <a:srgbClr val="16323A"/>
                </a:solidFill>
                <a:latin typeface="Arial" pitchFamily="34" charset="0"/>
                <a:ea typeface="Arial" pitchFamily="34" charset="-122"/>
                <a:cs typeface="Arial" pitchFamily="34" charset="-120"/>
              </a:rPr>
              <a:t>شرح مبسط لأي مفهوم صعب بأسلوب يناسبك، مع أمثلة إضافية عند الطلب</a:t>
            </a:r>
            <a:endParaRPr lang="ar-SA" sz="1300" dirty="0"/>
          </a:p>
        </p:txBody>
      </p:sp>
      <p:sp>
        <p:nvSpPr>
          <p:cNvPr id="10" name="Shape 6"/>
          <p:cNvSpPr/>
          <p:nvPr/>
        </p:nvSpPr>
        <p:spPr>
          <a:xfrm>
            <a:off x="10927080" y="3264408"/>
            <a:ext cx="438912" cy="438912"/>
          </a:xfrm>
          <a:prstGeom prst="ellipse">
            <a:avLst/>
          </a:prstGeom>
          <a:solidFill>
            <a:srgbClr val="02C39A"/>
          </a:solidFill>
          <a:ln/>
        </p:spPr>
      </p:sp>
      <p:pic>
        <p:nvPicPr>
          <p:cNvPr id="11" name="Image 2" descr="preencoded.png">    </p:cNvPr>
          <p:cNvPicPr>
            <a:picLocks noChangeAspect="1"/>
          </p:cNvPicPr>
          <p:nvPr/>
        </p:nvPicPr>
        <p:blipFill>
          <a:blip r:embed="rId3"/>
          <a:stretch>
            <a:fillRect/>
          </a:stretch>
        </p:blipFill>
        <p:spPr>
          <a:xfrm>
            <a:off x="11041197" y="3378525"/>
            <a:ext cx="210678" cy="210678"/>
          </a:xfrm>
          <a:prstGeom prst="rect">
            <a:avLst/>
          </a:prstGeom>
        </p:spPr>
      </p:pic>
      <p:sp>
        <p:nvSpPr>
          <p:cNvPr id="12" name="Text 7"/>
          <p:cNvSpPr/>
          <p:nvPr/>
        </p:nvSpPr>
        <p:spPr>
          <a:xfrm>
            <a:off x="6537960" y="3172968"/>
            <a:ext cx="4206240" cy="777240"/>
          </a:xfrm>
          <a:prstGeom prst="rect">
            <a:avLst/>
          </a:prstGeom>
          <a:noFill/>
          <a:ln/>
        </p:spPr>
        <p:txBody>
          <a:bodyPr wrap="square" rtlCol="0" anchor="t"/>
          <a:lstStyle/>
          <a:p>
            <a:pPr rtl="1" algn="r" indent="0" marL="0">
              <a:lnSpc>
                <a:spcPct val="115000"/>
              </a:lnSpc>
              <a:buNone/>
            </a:pPr>
            <a:r>
              <a:rPr lang="ar-SA" altLang="en-US" sz="1300" dirty="0">
                <a:solidFill>
                  <a:srgbClr val="16323A"/>
                </a:solidFill>
                <a:latin typeface="Arial" pitchFamily="34" charset="0"/>
                <a:ea typeface="Arial" pitchFamily="34" charset="-122"/>
                <a:cs typeface="Arial" pitchFamily="34" charset="-120"/>
              </a:rPr>
              <a:t>تلخيص الدروس والمقالات الطويلة ومراجعة سريعة قبل الاختبار</a:t>
            </a:r>
            <a:endParaRPr lang="ar-SA" sz="1300" dirty="0"/>
          </a:p>
        </p:txBody>
      </p:sp>
      <p:sp>
        <p:nvSpPr>
          <p:cNvPr id="13" name="Shape 8"/>
          <p:cNvSpPr/>
          <p:nvPr/>
        </p:nvSpPr>
        <p:spPr>
          <a:xfrm>
            <a:off x="10927080" y="4105656"/>
            <a:ext cx="438912" cy="438912"/>
          </a:xfrm>
          <a:prstGeom prst="ellipse">
            <a:avLst/>
          </a:prstGeom>
          <a:solidFill>
            <a:srgbClr val="02C39A"/>
          </a:solidFill>
          <a:ln/>
        </p:spPr>
      </p:sp>
      <p:pic>
        <p:nvPicPr>
          <p:cNvPr id="14" name="Image 3" descr="preencoded.png">    </p:cNvPr>
          <p:cNvPicPr>
            <a:picLocks noChangeAspect="1"/>
          </p:cNvPicPr>
          <p:nvPr/>
        </p:nvPicPr>
        <p:blipFill>
          <a:blip r:embed="rId4"/>
          <a:stretch>
            <a:fillRect/>
          </a:stretch>
        </p:blipFill>
        <p:spPr>
          <a:xfrm>
            <a:off x="11041197" y="4219773"/>
            <a:ext cx="210678" cy="210678"/>
          </a:xfrm>
          <a:prstGeom prst="rect">
            <a:avLst/>
          </a:prstGeom>
        </p:spPr>
      </p:pic>
      <p:sp>
        <p:nvSpPr>
          <p:cNvPr id="15" name="Text 9"/>
          <p:cNvSpPr/>
          <p:nvPr/>
        </p:nvSpPr>
        <p:spPr>
          <a:xfrm>
            <a:off x="6537960" y="4014216"/>
            <a:ext cx="4206240" cy="777240"/>
          </a:xfrm>
          <a:prstGeom prst="rect">
            <a:avLst/>
          </a:prstGeom>
          <a:noFill/>
          <a:ln/>
        </p:spPr>
        <p:txBody>
          <a:bodyPr wrap="square" rtlCol="0" anchor="t"/>
          <a:lstStyle/>
          <a:p>
            <a:pPr rtl="1" algn="r" indent="0" marL="0">
              <a:lnSpc>
                <a:spcPct val="115000"/>
              </a:lnSpc>
              <a:buNone/>
            </a:pPr>
            <a:r>
              <a:rPr lang="ar-SA" altLang="en-US" sz="1300" dirty="0">
                <a:solidFill>
                  <a:srgbClr val="16323A"/>
                </a:solidFill>
                <a:latin typeface="Arial" pitchFamily="34" charset="0"/>
                <a:ea typeface="Arial" pitchFamily="34" charset="-122"/>
                <a:cs typeface="Arial" pitchFamily="34" charset="-120"/>
              </a:rPr>
              <a:t>تعلم اللغات بالممارسة والتصحيح الفوري (مثل Duolingo)</a:t>
            </a:r>
            <a:endParaRPr lang="ar-SA" sz="1300" dirty="0"/>
          </a:p>
        </p:txBody>
      </p:sp>
      <p:sp>
        <p:nvSpPr>
          <p:cNvPr id="16" name="Shape 10"/>
          <p:cNvSpPr/>
          <p:nvPr/>
        </p:nvSpPr>
        <p:spPr>
          <a:xfrm>
            <a:off x="10927080" y="4946904"/>
            <a:ext cx="438912" cy="438912"/>
          </a:xfrm>
          <a:prstGeom prst="ellipse">
            <a:avLst/>
          </a:prstGeom>
          <a:solidFill>
            <a:srgbClr val="02C39A"/>
          </a:solidFill>
          <a:ln/>
        </p:spPr>
      </p:sp>
      <p:pic>
        <p:nvPicPr>
          <p:cNvPr id="17" name="Image 4" descr="preencoded.png">    </p:cNvPr>
          <p:cNvPicPr>
            <a:picLocks noChangeAspect="1"/>
          </p:cNvPicPr>
          <p:nvPr/>
        </p:nvPicPr>
        <p:blipFill>
          <a:blip r:embed="rId5"/>
          <a:stretch>
            <a:fillRect/>
          </a:stretch>
        </p:blipFill>
        <p:spPr>
          <a:xfrm>
            <a:off x="11041197" y="5061021"/>
            <a:ext cx="210678" cy="210678"/>
          </a:xfrm>
          <a:prstGeom prst="rect">
            <a:avLst/>
          </a:prstGeom>
        </p:spPr>
      </p:pic>
      <p:sp>
        <p:nvSpPr>
          <p:cNvPr id="18" name="Text 11"/>
          <p:cNvSpPr/>
          <p:nvPr/>
        </p:nvSpPr>
        <p:spPr>
          <a:xfrm>
            <a:off x="6537960" y="4855464"/>
            <a:ext cx="4206240" cy="777240"/>
          </a:xfrm>
          <a:prstGeom prst="rect">
            <a:avLst/>
          </a:prstGeom>
          <a:noFill/>
          <a:ln/>
        </p:spPr>
        <p:txBody>
          <a:bodyPr wrap="square" rtlCol="0" anchor="t"/>
          <a:lstStyle/>
          <a:p>
            <a:pPr rtl="1" algn="r" indent="0" marL="0">
              <a:lnSpc>
                <a:spcPct val="115000"/>
              </a:lnSpc>
              <a:buNone/>
            </a:pPr>
            <a:r>
              <a:rPr lang="ar-SA" altLang="en-US" sz="1300" dirty="0">
                <a:solidFill>
                  <a:srgbClr val="16323A"/>
                </a:solidFill>
                <a:latin typeface="Arial" pitchFamily="34" charset="0"/>
                <a:ea typeface="Arial" pitchFamily="34" charset="-122"/>
                <a:cs typeface="Arial" pitchFamily="34" charset="-120"/>
              </a:rPr>
              <a:t>توليد أسئلة تدريبية واختبار نفسك في أي موضوع</a:t>
            </a:r>
            <a:endParaRPr lang="ar-SA" sz="1300" dirty="0"/>
          </a:p>
        </p:txBody>
      </p:sp>
      <p:sp>
        <p:nvSpPr>
          <p:cNvPr id="19" name="Shape 12"/>
          <p:cNvSpPr/>
          <p:nvPr/>
        </p:nvSpPr>
        <p:spPr>
          <a:xfrm>
            <a:off x="548640" y="1508760"/>
            <a:ext cx="5349240" cy="4206240"/>
          </a:xfrm>
          <a:prstGeom prst="roundRect">
            <a:avLst>
              <a:gd name="adj" fmla="val 3043"/>
            </a:avLst>
          </a:prstGeom>
          <a:solidFill>
            <a:srgbClr val="FFFFFF"/>
          </a:solidFill>
          <a:ln w="12700">
            <a:solidFill>
              <a:srgbClr val="DCE8E8"/>
            </a:solidFill>
            <a:prstDash val="solid"/>
          </a:ln>
          <a:effectLst>
            <a:outerShdw sx="100000" sy="100000" kx="0" ky="0" algn="bl" rotWithShape="0" blurRad="88900" dist="25400" dir="5400000">
              <a:srgbClr val="0E2A32">
                <a:alpha val="16000"/>
              </a:srgbClr>
            </a:outerShdw>
          </a:effectLst>
        </p:spPr>
      </p:sp>
      <p:sp>
        <p:nvSpPr>
          <p:cNvPr id="20" name="Text 13"/>
          <p:cNvSpPr/>
          <p:nvPr/>
        </p:nvSpPr>
        <p:spPr>
          <a:xfrm>
            <a:off x="822960" y="1737360"/>
            <a:ext cx="4800600" cy="457200"/>
          </a:xfrm>
          <a:prstGeom prst="rect">
            <a:avLst/>
          </a:prstGeom>
          <a:noFill/>
          <a:ln/>
        </p:spPr>
        <p:txBody>
          <a:bodyPr wrap="square" rtlCol="0" anchor="ctr"/>
          <a:lstStyle/>
          <a:p>
            <a:pPr rtl="1" algn="r" indent="0" marL="0">
              <a:buNone/>
            </a:pPr>
            <a:r>
              <a:rPr lang="ar-SA" altLang="en-US" sz="1800" b="1" dirty="0">
                <a:solidFill>
                  <a:srgbClr val="0E2A32"/>
                </a:solidFill>
                <a:latin typeface="Arial" pitchFamily="34" charset="0"/>
                <a:ea typeface="Arial" pitchFamily="34" charset="-122"/>
                <a:cs typeface="Arial" pitchFamily="34" charset="-120"/>
              </a:rPr>
              <a:t>استخدمه بذكاء… لا بدلاً عن عقلك</a:t>
            </a:r>
            <a:endParaRPr lang="ar-SA" sz="1800" dirty="0"/>
          </a:p>
        </p:txBody>
      </p:sp>
      <p:sp>
        <p:nvSpPr>
          <p:cNvPr id="21" name="Shape 14"/>
          <p:cNvSpPr/>
          <p:nvPr/>
        </p:nvSpPr>
        <p:spPr>
          <a:xfrm>
            <a:off x="5212080" y="2423160"/>
            <a:ext cx="438912" cy="438912"/>
          </a:xfrm>
          <a:prstGeom prst="ellipse">
            <a:avLst/>
          </a:prstGeom>
          <a:solidFill>
            <a:srgbClr val="0E2A32"/>
          </a:solidFill>
          <a:ln/>
        </p:spPr>
      </p:sp>
      <p:pic>
        <p:nvPicPr>
          <p:cNvPr id="22" name="Image 5" descr="preencoded.png">    </p:cNvPr>
          <p:cNvPicPr>
            <a:picLocks noChangeAspect="1"/>
          </p:cNvPicPr>
          <p:nvPr/>
        </p:nvPicPr>
        <p:blipFill>
          <a:blip r:embed="rId6"/>
          <a:stretch>
            <a:fillRect/>
          </a:stretch>
        </p:blipFill>
        <p:spPr>
          <a:xfrm>
            <a:off x="5326197" y="2537277"/>
            <a:ext cx="210678" cy="210678"/>
          </a:xfrm>
          <a:prstGeom prst="rect">
            <a:avLst/>
          </a:prstGeom>
        </p:spPr>
      </p:pic>
      <p:sp>
        <p:nvSpPr>
          <p:cNvPr id="23" name="Text 15"/>
          <p:cNvSpPr/>
          <p:nvPr/>
        </p:nvSpPr>
        <p:spPr>
          <a:xfrm>
            <a:off x="822960" y="2331720"/>
            <a:ext cx="4206240" cy="777240"/>
          </a:xfrm>
          <a:prstGeom prst="rect">
            <a:avLst/>
          </a:prstGeom>
          <a:noFill/>
          <a:ln/>
        </p:spPr>
        <p:txBody>
          <a:bodyPr wrap="square" rtlCol="0" anchor="t"/>
          <a:lstStyle/>
          <a:p>
            <a:pPr rtl="1" algn="r" indent="0" marL="0">
              <a:lnSpc>
                <a:spcPct val="115000"/>
              </a:lnSpc>
              <a:buNone/>
            </a:pPr>
            <a:r>
              <a:rPr lang="ar-SA" altLang="en-US" sz="1300" dirty="0">
                <a:solidFill>
                  <a:srgbClr val="16323A"/>
                </a:solidFill>
                <a:latin typeface="Arial" pitchFamily="34" charset="0"/>
                <a:ea typeface="Arial" pitchFamily="34" charset="-122"/>
                <a:cs typeface="Arial" pitchFamily="34" charset="-120"/>
              </a:rPr>
              <a:t>تحقق دائماً من المعلومات — النماذج قد «تهلوس» وتخترع إجابات واثقة لكنها خاطئة</a:t>
            </a:r>
            <a:endParaRPr lang="ar-SA" sz="1300" dirty="0"/>
          </a:p>
        </p:txBody>
      </p:sp>
      <p:sp>
        <p:nvSpPr>
          <p:cNvPr id="24" name="Shape 16"/>
          <p:cNvSpPr/>
          <p:nvPr/>
        </p:nvSpPr>
        <p:spPr>
          <a:xfrm>
            <a:off x="5212080" y="3264408"/>
            <a:ext cx="438912" cy="438912"/>
          </a:xfrm>
          <a:prstGeom prst="ellipse">
            <a:avLst/>
          </a:prstGeom>
          <a:solidFill>
            <a:srgbClr val="0E2A32"/>
          </a:solidFill>
          <a:ln/>
        </p:spPr>
      </p:sp>
      <p:pic>
        <p:nvPicPr>
          <p:cNvPr id="25" name="Image 6" descr="preencoded.png">    </p:cNvPr>
          <p:cNvPicPr>
            <a:picLocks noChangeAspect="1"/>
          </p:cNvPicPr>
          <p:nvPr/>
        </p:nvPicPr>
        <p:blipFill>
          <a:blip r:embed="rId7"/>
          <a:stretch>
            <a:fillRect/>
          </a:stretch>
        </p:blipFill>
        <p:spPr>
          <a:xfrm>
            <a:off x="5326197" y="3378525"/>
            <a:ext cx="210678" cy="210678"/>
          </a:xfrm>
          <a:prstGeom prst="rect">
            <a:avLst/>
          </a:prstGeom>
        </p:spPr>
      </p:pic>
      <p:sp>
        <p:nvSpPr>
          <p:cNvPr id="26" name="Text 17"/>
          <p:cNvSpPr/>
          <p:nvPr/>
        </p:nvSpPr>
        <p:spPr>
          <a:xfrm>
            <a:off x="822960" y="3172968"/>
            <a:ext cx="4206240" cy="777240"/>
          </a:xfrm>
          <a:prstGeom prst="rect">
            <a:avLst/>
          </a:prstGeom>
          <a:noFill/>
          <a:ln/>
        </p:spPr>
        <p:txBody>
          <a:bodyPr wrap="square" rtlCol="0" anchor="t"/>
          <a:lstStyle/>
          <a:p>
            <a:pPr rtl="1" algn="r" indent="0" marL="0">
              <a:lnSpc>
                <a:spcPct val="115000"/>
              </a:lnSpc>
              <a:buNone/>
            </a:pPr>
            <a:r>
              <a:rPr lang="ar-SA" altLang="en-US" sz="1300" dirty="0">
                <a:solidFill>
                  <a:srgbClr val="16323A"/>
                </a:solidFill>
                <a:latin typeface="Arial" pitchFamily="34" charset="0"/>
                <a:ea typeface="Arial" pitchFamily="34" charset="-122"/>
                <a:cs typeface="Arial" pitchFamily="34" charset="-120"/>
              </a:rPr>
              <a:t>اجعله معلماً خصوصياً يشرح لك، لا آلة تحل واجباتك مكانك</a:t>
            </a:r>
            <a:endParaRPr lang="ar-SA" sz="1300" dirty="0"/>
          </a:p>
        </p:txBody>
      </p:sp>
      <p:sp>
        <p:nvSpPr>
          <p:cNvPr id="27" name="Shape 18"/>
          <p:cNvSpPr/>
          <p:nvPr/>
        </p:nvSpPr>
        <p:spPr>
          <a:xfrm>
            <a:off x="5212080" y="4105656"/>
            <a:ext cx="438912" cy="438912"/>
          </a:xfrm>
          <a:prstGeom prst="ellipse">
            <a:avLst/>
          </a:prstGeom>
          <a:solidFill>
            <a:srgbClr val="0E2A32"/>
          </a:solidFill>
          <a:ln/>
        </p:spPr>
      </p:sp>
      <p:pic>
        <p:nvPicPr>
          <p:cNvPr id="28" name="Image 7" descr="preencoded.png">    </p:cNvPr>
          <p:cNvPicPr>
            <a:picLocks noChangeAspect="1"/>
          </p:cNvPicPr>
          <p:nvPr/>
        </p:nvPicPr>
        <p:blipFill>
          <a:blip r:embed="rId8"/>
          <a:stretch>
            <a:fillRect/>
          </a:stretch>
        </p:blipFill>
        <p:spPr>
          <a:xfrm>
            <a:off x="5326197" y="4219773"/>
            <a:ext cx="210678" cy="210678"/>
          </a:xfrm>
          <a:prstGeom prst="rect">
            <a:avLst/>
          </a:prstGeom>
        </p:spPr>
      </p:pic>
      <p:sp>
        <p:nvSpPr>
          <p:cNvPr id="29" name="Text 19"/>
          <p:cNvSpPr/>
          <p:nvPr/>
        </p:nvSpPr>
        <p:spPr>
          <a:xfrm>
            <a:off x="822960" y="4014216"/>
            <a:ext cx="4206240" cy="777240"/>
          </a:xfrm>
          <a:prstGeom prst="rect">
            <a:avLst/>
          </a:prstGeom>
          <a:noFill/>
          <a:ln/>
        </p:spPr>
        <p:txBody>
          <a:bodyPr wrap="square" rtlCol="0" anchor="t"/>
          <a:lstStyle/>
          <a:p>
            <a:pPr rtl="1" algn="r" indent="0" marL="0">
              <a:lnSpc>
                <a:spcPct val="115000"/>
              </a:lnSpc>
              <a:buNone/>
            </a:pPr>
            <a:r>
              <a:rPr lang="ar-SA" altLang="en-US" sz="1300" dirty="0">
                <a:solidFill>
                  <a:srgbClr val="16323A"/>
                </a:solidFill>
                <a:latin typeface="Arial" pitchFamily="34" charset="0"/>
                <a:ea typeface="Arial" pitchFamily="34" charset="-122"/>
                <a:cs typeface="Arial" pitchFamily="34" charset="-120"/>
              </a:rPr>
              <a:t>اذكر استخدامك له بأمانة والتزم بأنظمة مدرستك أو جامعتك</a:t>
            </a:r>
            <a:endParaRPr lang="ar-SA" sz="1300" dirty="0"/>
          </a:p>
        </p:txBody>
      </p:sp>
      <p:sp>
        <p:nvSpPr>
          <p:cNvPr id="30" name="Shape 20"/>
          <p:cNvSpPr/>
          <p:nvPr/>
        </p:nvSpPr>
        <p:spPr>
          <a:xfrm>
            <a:off x="5212080" y="4946904"/>
            <a:ext cx="438912" cy="438912"/>
          </a:xfrm>
          <a:prstGeom prst="ellipse">
            <a:avLst/>
          </a:prstGeom>
          <a:solidFill>
            <a:srgbClr val="0E2A32"/>
          </a:solidFill>
          <a:ln/>
        </p:spPr>
      </p:sp>
      <p:pic>
        <p:nvPicPr>
          <p:cNvPr id="31" name="Image 8" descr="preencoded.png">    </p:cNvPr>
          <p:cNvPicPr>
            <a:picLocks noChangeAspect="1"/>
          </p:cNvPicPr>
          <p:nvPr/>
        </p:nvPicPr>
        <p:blipFill>
          <a:blip r:embed="rId9"/>
          <a:stretch>
            <a:fillRect/>
          </a:stretch>
        </p:blipFill>
        <p:spPr>
          <a:xfrm>
            <a:off x="5326197" y="5061021"/>
            <a:ext cx="210678" cy="210678"/>
          </a:xfrm>
          <a:prstGeom prst="rect">
            <a:avLst/>
          </a:prstGeom>
        </p:spPr>
      </p:pic>
      <p:sp>
        <p:nvSpPr>
          <p:cNvPr id="32" name="Text 21"/>
          <p:cNvSpPr/>
          <p:nvPr/>
        </p:nvSpPr>
        <p:spPr>
          <a:xfrm>
            <a:off x="822960" y="4855464"/>
            <a:ext cx="4206240" cy="777240"/>
          </a:xfrm>
          <a:prstGeom prst="rect">
            <a:avLst/>
          </a:prstGeom>
          <a:noFill/>
          <a:ln/>
        </p:spPr>
        <p:txBody>
          <a:bodyPr wrap="square" rtlCol="0" anchor="t"/>
          <a:lstStyle/>
          <a:p>
            <a:pPr rtl="1" algn="r" indent="0" marL="0">
              <a:lnSpc>
                <a:spcPct val="115000"/>
              </a:lnSpc>
              <a:buNone/>
            </a:pPr>
            <a:r>
              <a:rPr lang="ar-SA" altLang="en-US" sz="1300" dirty="0">
                <a:solidFill>
                  <a:srgbClr val="16323A"/>
                </a:solidFill>
                <a:latin typeface="Arial" pitchFamily="34" charset="0"/>
                <a:ea typeface="Arial" pitchFamily="34" charset="-122"/>
                <a:cs typeface="Arial" pitchFamily="34" charset="-120"/>
              </a:rPr>
              <a:t>ما تتعلمه بنفسك يبقى — وما ينسخه لك الذكاء الاصطناعي يُنسى</a:t>
            </a:r>
            <a:endParaRPr lang="ar-SA"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في الصحة والطب</a:t>
            </a:r>
            <a:endParaRPr lang="ar-SA" sz="3100" dirty="0"/>
          </a:p>
        </p:txBody>
      </p:sp>
      <p:sp>
        <p:nvSpPr>
          <p:cNvPr id="5" name="Shape 2"/>
          <p:cNvSpPr/>
          <p:nvPr/>
        </p:nvSpPr>
        <p:spPr>
          <a:xfrm>
            <a:off x="8198968" y="1554480"/>
            <a:ext cx="3566160" cy="3063240"/>
          </a:xfrm>
          <a:prstGeom prst="roundRect">
            <a:avLst>
              <a:gd name="adj" fmla="val 4179"/>
            </a:avLst>
          </a:prstGeom>
          <a:solidFill>
            <a:srgbClr val="F2F7F7"/>
          </a:solidFill>
          <a:ln/>
          <a:effectLst>
            <a:outerShdw sx="100000" sy="100000" kx="0" ky="0" algn="bl" rotWithShape="0" blurRad="88900" dist="25400" dir="5400000">
              <a:srgbClr val="0E2A32">
                <a:alpha val="16000"/>
              </a:srgbClr>
            </a:outerShdw>
          </a:effectLst>
        </p:spPr>
      </p:sp>
      <p:sp>
        <p:nvSpPr>
          <p:cNvPr id="6" name="Shape 3"/>
          <p:cNvSpPr/>
          <p:nvPr/>
        </p:nvSpPr>
        <p:spPr>
          <a:xfrm>
            <a:off x="9524848" y="1874520"/>
            <a:ext cx="914400" cy="914400"/>
          </a:xfrm>
          <a:prstGeom prst="ellipse">
            <a:avLst/>
          </a:prstGeom>
          <a:solidFill>
            <a:srgbClr val="028090"/>
          </a:solidFill>
          <a:ln/>
        </p:spPr>
      </p:sp>
      <p:pic>
        <p:nvPicPr>
          <p:cNvPr id="7" name="Image 1" descr="preencoded.png">    </p:cNvPr>
          <p:cNvPicPr>
            <a:picLocks noChangeAspect="1"/>
          </p:cNvPicPr>
          <p:nvPr/>
        </p:nvPicPr>
        <p:blipFill>
          <a:blip r:embed="rId2"/>
          <a:stretch>
            <a:fillRect/>
          </a:stretch>
        </p:blipFill>
        <p:spPr>
          <a:xfrm>
            <a:off x="9762592" y="2112264"/>
            <a:ext cx="438912" cy="438912"/>
          </a:xfrm>
          <a:prstGeom prst="rect">
            <a:avLst/>
          </a:prstGeom>
        </p:spPr>
      </p:pic>
      <p:sp>
        <p:nvSpPr>
          <p:cNvPr id="8" name="Text 4"/>
          <p:cNvSpPr/>
          <p:nvPr/>
        </p:nvSpPr>
        <p:spPr>
          <a:xfrm>
            <a:off x="8381848" y="2926080"/>
            <a:ext cx="3200400" cy="457200"/>
          </a:xfrm>
          <a:prstGeom prst="rect">
            <a:avLst/>
          </a:prstGeom>
          <a:noFill/>
          <a:ln/>
        </p:spPr>
        <p:txBody>
          <a:bodyPr wrap="square" rtlCol="0" anchor="ctr"/>
          <a:lstStyle/>
          <a:p>
            <a:pPr rtl="1" algn="ctr" indent="0" marL="0">
              <a:buNone/>
            </a:pPr>
            <a:r>
              <a:rPr lang="ar-SA" altLang="en-US" sz="1650" b="1" dirty="0">
                <a:solidFill>
                  <a:srgbClr val="0E2A32"/>
                </a:solidFill>
                <a:latin typeface="Arial" pitchFamily="34" charset="0"/>
                <a:ea typeface="Arial" pitchFamily="34" charset="-122"/>
                <a:cs typeface="Arial" pitchFamily="34" charset="-120"/>
              </a:rPr>
              <a:t>تحليل الصور الطبية</a:t>
            </a:r>
            <a:endParaRPr lang="ar-SA" sz="1650" dirty="0"/>
          </a:p>
        </p:txBody>
      </p:sp>
      <p:sp>
        <p:nvSpPr>
          <p:cNvPr id="9" name="Text 5"/>
          <p:cNvSpPr/>
          <p:nvPr/>
        </p:nvSpPr>
        <p:spPr>
          <a:xfrm>
            <a:off x="8455000" y="3383280"/>
            <a:ext cx="3054096" cy="1143000"/>
          </a:xfrm>
          <a:prstGeom prst="rect">
            <a:avLst/>
          </a:prstGeom>
          <a:noFill/>
          <a:ln/>
        </p:spPr>
        <p:txBody>
          <a:bodyPr wrap="square" rtlCol="0" anchor="ctr"/>
          <a:lstStyle/>
          <a:p>
            <a:pPr rtl="1" algn="ctr" indent="0" marL="0">
              <a:lnSpc>
                <a:spcPct val="118000"/>
              </a:lnSpc>
              <a:buNone/>
            </a:pPr>
            <a:r>
              <a:rPr lang="ar-SA" altLang="en-US" sz="1250" dirty="0">
                <a:solidFill>
                  <a:srgbClr val="587076"/>
                </a:solidFill>
                <a:latin typeface="Arial" pitchFamily="34" charset="0"/>
                <a:ea typeface="Arial" pitchFamily="34" charset="-122"/>
                <a:cs typeface="Arial" pitchFamily="34" charset="-120"/>
              </a:rPr>
              <a:t>أنظمة تكشف الأورام والكسور في صور الأشعة بدقة تضاهي الأطباء المتخصصين، وتساعدهم على قرارات أسرع.</a:t>
            </a:r>
            <a:endParaRPr lang="ar-SA" sz="1250" dirty="0"/>
          </a:p>
        </p:txBody>
      </p:sp>
      <p:sp>
        <p:nvSpPr>
          <p:cNvPr id="10" name="Shape 6"/>
          <p:cNvSpPr/>
          <p:nvPr/>
        </p:nvSpPr>
        <p:spPr>
          <a:xfrm>
            <a:off x="4312768" y="1554480"/>
            <a:ext cx="3566160" cy="3063240"/>
          </a:xfrm>
          <a:prstGeom prst="roundRect">
            <a:avLst>
              <a:gd name="adj" fmla="val 4179"/>
            </a:avLst>
          </a:prstGeom>
          <a:solidFill>
            <a:srgbClr val="F2F7F7"/>
          </a:solidFill>
          <a:ln/>
          <a:effectLst>
            <a:outerShdw sx="100000" sy="100000" kx="0" ky="0" algn="bl" rotWithShape="0" blurRad="88900" dist="25400" dir="5400000">
              <a:srgbClr val="0E2A32">
                <a:alpha val="16000"/>
              </a:srgbClr>
            </a:outerShdw>
          </a:effectLst>
        </p:spPr>
      </p:sp>
      <p:sp>
        <p:nvSpPr>
          <p:cNvPr id="11" name="Shape 7"/>
          <p:cNvSpPr/>
          <p:nvPr/>
        </p:nvSpPr>
        <p:spPr>
          <a:xfrm>
            <a:off x="5638648" y="1874520"/>
            <a:ext cx="914400" cy="914400"/>
          </a:xfrm>
          <a:prstGeom prst="ellipse">
            <a:avLst/>
          </a:prstGeom>
          <a:solidFill>
            <a:srgbClr val="02C39A"/>
          </a:solidFill>
          <a:ln/>
        </p:spPr>
      </p:sp>
      <p:pic>
        <p:nvPicPr>
          <p:cNvPr id="12" name="Image 2" descr="preencoded.png">    </p:cNvPr>
          <p:cNvPicPr>
            <a:picLocks noChangeAspect="1"/>
          </p:cNvPicPr>
          <p:nvPr/>
        </p:nvPicPr>
        <p:blipFill>
          <a:blip r:embed="rId3"/>
          <a:stretch>
            <a:fillRect/>
          </a:stretch>
        </p:blipFill>
        <p:spPr>
          <a:xfrm>
            <a:off x="5876392" y="2112264"/>
            <a:ext cx="438912" cy="438912"/>
          </a:xfrm>
          <a:prstGeom prst="rect">
            <a:avLst/>
          </a:prstGeom>
        </p:spPr>
      </p:pic>
      <p:sp>
        <p:nvSpPr>
          <p:cNvPr id="13" name="Text 8"/>
          <p:cNvSpPr/>
          <p:nvPr/>
        </p:nvSpPr>
        <p:spPr>
          <a:xfrm>
            <a:off x="4495648" y="2926080"/>
            <a:ext cx="3200400" cy="457200"/>
          </a:xfrm>
          <a:prstGeom prst="rect">
            <a:avLst/>
          </a:prstGeom>
          <a:noFill/>
          <a:ln/>
        </p:spPr>
        <p:txBody>
          <a:bodyPr wrap="square" rtlCol="0" anchor="ctr"/>
          <a:lstStyle/>
          <a:p>
            <a:pPr rtl="1" algn="ctr" indent="0" marL="0">
              <a:buNone/>
            </a:pPr>
            <a:r>
              <a:rPr lang="ar-SA" altLang="en-US" sz="1650" b="1" dirty="0">
                <a:solidFill>
                  <a:srgbClr val="0E2A32"/>
                </a:solidFill>
                <a:latin typeface="Arial" pitchFamily="34" charset="0"/>
                <a:ea typeface="Arial" pitchFamily="34" charset="-122"/>
                <a:cs typeface="Arial" pitchFamily="34" charset="-120"/>
              </a:rPr>
              <a:t>اكتشاف الأدوية</a:t>
            </a:r>
            <a:endParaRPr lang="ar-SA" sz="1650" dirty="0"/>
          </a:p>
        </p:txBody>
      </p:sp>
      <p:sp>
        <p:nvSpPr>
          <p:cNvPr id="14" name="Text 9"/>
          <p:cNvSpPr/>
          <p:nvPr/>
        </p:nvSpPr>
        <p:spPr>
          <a:xfrm>
            <a:off x="4568800" y="3383280"/>
            <a:ext cx="3054096" cy="1143000"/>
          </a:xfrm>
          <a:prstGeom prst="rect">
            <a:avLst/>
          </a:prstGeom>
          <a:noFill/>
          <a:ln/>
        </p:spPr>
        <p:txBody>
          <a:bodyPr wrap="square" rtlCol="0" anchor="ctr"/>
          <a:lstStyle/>
          <a:p>
            <a:pPr rtl="1" algn="ctr" indent="0" marL="0">
              <a:lnSpc>
                <a:spcPct val="118000"/>
              </a:lnSpc>
              <a:buNone/>
            </a:pPr>
            <a:r>
              <a:rPr lang="ar-SA" altLang="en-US" sz="1250" dirty="0">
                <a:solidFill>
                  <a:srgbClr val="587076"/>
                </a:solidFill>
                <a:latin typeface="Arial" pitchFamily="34" charset="0"/>
                <a:ea typeface="Arial" pitchFamily="34" charset="-122"/>
                <a:cs typeface="Arial" pitchFamily="34" charset="-120"/>
              </a:rPr>
              <a:t>نظام AlphaFold تنبأ ببنية أكثر من 200 مليون بروتين — عمل كان يستغرق سنوات في المختبر لكل بروتين.</a:t>
            </a:r>
            <a:endParaRPr lang="ar-SA" sz="1250" dirty="0"/>
          </a:p>
        </p:txBody>
      </p:sp>
      <p:sp>
        <p:nvSpPr>
          <p:cNvPr id="15" name="Shape 10"/>
          <p:cNvSpPr/>
          <p:nvPr/>
        </p:nvSpPr>
        <p:spPr>
          <a:xfrm>
            <a:off x="426568" y="1554480"/>
            <a:ext cx="3566160" cy="3063240"/>
          </a:xfrm>
          <a:prstGeom prst="roundRect">
            <a:avLst>
              <a:gd name="adj" fmla="val 4179"/>
            </a:avLst>
          </a:prstGeom>
          <a:solidFill>
            <a:srgbClr val="F2F7F7"/>
          </a:solidFill>
          <a:ln/>
          <a:effectLst>
            <a:outerShdw sx="100000" sy="100000" kx="0" ky="0" algn="bl" rotWithShape="0" blurRad="88900" dist="25400" dir="5400000">
              <a:srgbClr val="0E2A32">
                <a:alpha val="16000"/>
              </a:srgbClr>
            </a:outerShdw>
          </a:effectLst>
        </p:spPr>
      </p:sp>
      <p:sp>
        <p:nvSpPr>
          <p:cNvPr id="16" name="Shape 11"/>
          <p:cNvSpPr/>
          <p:nvPr/>
        </p:nvSpPr>
        <p:spPr>
          <a:xfrm>
            <a:off x="1752448" y="1874520"/>
            <a:ext cx="914400" cy="914400"/>
          </a:xfrm>
          <a:prstGeom prst="ellipse">
            <a:avLst/>
          </a:prstGeom>
          <a:solidFill>
            <a:srgbClr val="028090"/>
          </a:solidFill>
          <a:ln/>
        </p:spPr>
      </p:sp>
      <p:pic>
        <p:nvPicPr>
          <p:cNvPr id="17" name="Image 3" descr="preencoded.png">    </p:cNvPr>
          <p:cNvPicPr>
            <a:picLocks noChangeAspect="1"/>
          </p:cNvPicPr>
          <p:nvPr/>
        </p:nvPicPr>
        <p:blipFill>
          <a:blip r:embed="rId4"/>
          <a:stretch>
            <a:fillRect/>
          </a:stretch>
        </p:blipFill>
        <p:spPr>
          <a:xfrm>
            <a:off x="1990192" y="2112264"/>
            <a:ext cx="438912" cy="438912"/>
          </a:xfrm>
          <a:prstGeom prst="rect">
            <a:avLst/>
          </a:prstGeom>
        </p:spPr>
      </p:pic>
      <p:sp>
        <p:nvSpPr>
          <p:cNvPr id="18" name="Text 12"/>
          <p:cNvSpPr/>
          <p:nvPr/>
        </p:nvSpPr>
        <p:spPr>
          <a:xfrm>
            <a:off x="609448" y="2926080"/>
            <a:ext cx="3200400" cy="457200"/>
          </a:xfrm>
          <a:prstGeom prst="rect">
            <a:avLst/>
          </a:prstGeom>
          <a:noFill/>
          <a:ln/>
        </p:spPr>
        <p:txBody>
          <a:bodyPr wrap="square" rtlCol="0" anchor="ctr"/>
          <a:lstStyle/>
          <a:p>
            <a:pPr rtl="1" algn="ctr" indent="0" marL="0">
              <a:buNone/>
            </a:pPr>
            <a:r>
              <a:rPr lang="ar-SA" altLang="en-US" sz="1650" b="1" dirty="0">
                <a:solidFill>
                  <a:srgbClr val="0E2A32"/>
                </a:solidFill>
                <a:latin typeface="Arial" pitchFamily="34" charset="0"/>
                <a:ea typeface="Arial" pitchFamily="34" charset="-122"/>
                <a:cs typeface="Arial" pitchFamily="34" charset="-120"/>
              </a:rPr>
              <a:t>الأجهزة القابلة للارتداء</a:t>
            </a:r>
            <a:endParaRPr lang="ar-SA" sz="1650" dirty="0"/>
          </a:p>
        </p:txBody>
      </p:sp>
      <p:sp>
        <p:nvSpPr>
          <p:cNvPr id="19" name="Text 13"/>
          <p:cNvSpPr/>
          <p:nvPr/>
        </p:nvSpPr>
        <p:spPr>
          <a:xfrm>
            <a:off x="682600" y="3383280"/>
            <a:ext cx="3054096" cy="1143000"/>
          </a:xfrm>
          <a:prstGeom prst="rect">
            <a:avLst/>
          </a:prstGeom>
          <a:noFill/>
          <a:ln/>
        </p:spPr>
        <p:txBody>
          <a:bodyPr wrap="square" rtlCol="0" anchor="ctr"/>
          <a:lstStyle/>
          <a:p>
            <a:pPr rtl="1" algn="ctr" indent="0" marL="0">
              <a:lnSpc>
                <a:spcPct val="118000"/>
              </a:lnSpc>
              <a:buNone/>
            </a:pPr>
            <a:r>
              <a:rPr lang="ar-SA" altLang="en-US" sz="1250" dirty="0">
                <a:solidFill>
                  <a:srgbClr val="587076"/>
                </a:solidFill>
                <a:latin typeface="Arial" pitchFamily="34" charset="0"/>
                <a:ea typeface="Arial" pitchFamily="34" charset="-122"/>
                <a:cs typeface="Arial" pitchFamily="34" charset="-120"/>
              </a:rPr>
              <a:t>الساعات الذكية تراقب نبض القلب والنوم وترسل تنبيهات مبكرة عند اكتشاف اضطراب في النظم.</a:t>
            </a:r>
            <a:endParaRPr lang="ar-SA" sz="1250" dirty="0"/>
          </a:p>
        </p:txBody>
      </p:sp>
      <p:sp>
        <p:nvSpPr>
          <p:cNvPr id="20" name="Shape 14"/>
          <p:cNvSpPr/>
          <p:nvPr/>
        </p:nvSpPr>
        <p:spPr>
          <a:xfrm>
            <a:off x="1645920" y="5074920"/>
            <a:ext cx="8897112" cy="868680"/>
          </a:xfrm>
          <a:prstGeom prst="roundRect">
            <a:avLst>
              <a:gd name="adj" fmla="val 12632"/>
            </a:avLst>
          </a:prstGeom>
          <a:solidFill>
            <a:srgbClr val="0E2A32"/>
          </a:solidFill>
          <a:ln/>
        </p:spPr>
      </p:sp>
      <p:sp>
        <p:nvSpPr>
          <p:cNvPr id="21" name="Text 15"/>
          <p:cNvSpPr/>
          <p:nvPr/>
        </p:nvSpPr>
        <p:spPr>
          <a:xfrm>
            <a:off x="1920240" y="5074920"/>
            <a:ext cx="8321040" cy="868680"/>
          </a:xfrm>
          <a:prstGeom prst="rect">
            <a:avLst/>
          </a:prstGeom>
          <a:noFill/>
          <a:ln/>
        </p:spPr>
        <p:txBody>
          <a:bodyPr wrap="square" rtlCol="0" anchor="ctr"/>
          <a:lstStyle/>
          <a:p>
            <a:pPr rtl="1" algn="r" indent="0" marL="0">
              <a:lnSpc>
                <a:spcPct val="110000"/>
              </a:lnSpc>
              <a:buNone/>
            </a:pPr>
            <a:r>
              <a:rPr lang="ar-SA" altLang="en-US" sz="1450" b="1" dirty="0">
                <a:solidFill>
                  <a:srgbClr val="02C39A"/>
                </a:solidFill>
                <a:latin typeface="Arial" pitchFamily="34" charset="0"/>
                <a:ea typeface="Arial" pitchFamily="34" charset="-122"/>
                <a:cs typeface="Arial" pitchFamily="34" charset="-120"/>
              </a:rPr>
              <a:t>القاعدة الذهبية:  </a:t>
            </a:r>
            <a:pPr rtl="1" algn="r" indent="0" marL="0">
              <a:lnSpc>
                <a:spcPct val="110000"/>
              </a:lnSpc>
              <a:buNone/>
            </a:pPr>
            <a:r>
              <a:rPr lang="ar-SA" altLang="en-US" sz="1450" dirty="0">
                <a:solidFill>
                  <a:srgbClr val="FFFFFF"/>
                </a:solidFill>
                <a:latin typeface="Arial" pitchFamily="34" charset="0"/>
                <a:ea typeface="Arial" pitchFamily="34" charset="-122"/>
                <a:cs typeface="Arial" pitchFamily="34" charset="-120"/>
              </a:rPr>
              <a:t>الذكاء الاصطناعي مساعد للطبيب لا بديل عنه — القرار الطبي يبقى بشرياً.</a:t>
            </a:r>
            <a:endParaRPr lang="ar-SA"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النقل والمنزل والمدن الذكية</a:t>
            </a:r>
            <a:endParaRPr lang="ar-SA" sz="3100" dirty="0"/>
          </a:p>
        </p:txBody>
      </p:sp>
      <p:sp>
        <p:nvSpPr>
          <p:cNvPr id="5" name="Shape 2"/>
          <p:cNvSpPr/>
          <p:nvPr/>
        </p:nvSpPr>
        <p:spPr>
          <a:xfrm>
            <a:off x="6255868" y="1600200"/>
            <a:ext cx="5440680" cy="1965960"/>
          </a:xfrm>
          <a:prstGeom prst="roundRect">
            <a:avLst>
              <a:gd name="adj" fmla="val 5581"/>
            </a:avLst>
          </a:prstGeom>
          <a:solidFill>
            <a:srgbClr val="FFFFFF"/>
          </a:solidFill>
          <a:ln w="12700">
            <a:solidFill>
              <a:srgbClr val="DCE8E8"/>
            </a:solidFill>
            <a:prstDash val="solid"/>
          </a:ln>
          <a:effectLst>
            <a:outerShdw sx="100000" sy="100000" kx="0" ky="0" algn="bl" rotWithShape="0" blurRad="88900" dist="25400" dir="5400000">
              <a:srgbClr val="0E2A32">
                <a:alpha val="16000"/>
              </a:srgbClr>
            </a:outerShdw>
          </a:effectLst>
        </p:spPr>
      </p:sp>
      <p:sp>
        <p:nvSpPr>
          <p:cNvPr id="6" name="Shape 3"/>
          <p:cNvSpPr/>
          <p:nvPr/>
        </p:nvSpPr>
        <p:spPr>
          <a:xfrm>
            <a:off x="10644988" y="2180844"/>
            <a:ext cx="804672" cy="804672"/>
          </a:xfrm>
          <a:prstGeom prst="ellipse">
            <a:avLst/>
          </a:prstGeom>
          <a:solidFill>
            <a:srgbClr val="028090"/>
          </a:solidFill>
          <a:ln/>
        </p:spPr>
      </p:sp>
      <p:pic>
        <p:nvPicPr>
          <p:cNvPr id="7" name="Image 1" descr="preencoded.png">    </p:cNvPr>
          <p:cNvPicPr>
            <a:picLocks noChangeAspect="1"/>
          </p:cNvPicPr>
          <p:nvPr/>
        </p:nvPicPr>
        <p:blipFill>
          <a:blip r:embed="rId2"/>
          <a:stretch>
            <a:fillRect/>
          </a:stretch>
        </p:blipFill>
        <p:spPr>
          <a:xfrm>
            <a:off x="10854202" y="2390059"/>
            <a:ext cx="386243" cy="386243"/>
          </a:xfrm>
          <a:prstGeom prst="rect">
            <a:avLst/>
          </a:prstGeom>
        </p:spPr>
      </p:pic>
      <p:sp>
        <p:nvSpPr>
          <p:cNvPr id="8" name="Text 4"/>
          <p:cNvSpPr/>
          <p:nvPr/>
        </p:nvSpPr>
        <p:spPr>
          <a:xfrm>
            <a:off x="6530188" y="187452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السيارات ذاتية القيادة</a:t>
            </a:r>
            <a:endParaRPr lang="ar-SA" sz="1700" dirty="0"/>
          </a:p>
        </p:txBody>
      </p:sp>
      <p:sp>
        <p:nvSpPr>
          <p:cNvPr id="9" name="Text 5"/>
          <p:cNvSpPr/>
          <p:nvPr/>
        </p:nvSpPr>
        <p:spPr>
          <a:xfrm>
            <a:off x="6530188" y="2331720"/>
            <a:ext cx="3977640" cy="105156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كاميرات ورادارات ونماذج رؤية حاسوبية تقرأ الطريق وتتخذ قرارات في أجزاء من الثانية.</a:t>
            </a:r>
            <a:endParaRPr lang="ar-SA" sz="1300" dirty="0"/>
          </a:p>
        </p:txBody>
      </p:sp>
      <p:sp>
        <p:nvSpPr>
          <p:cNvPr id="10" name="Shape 6"/>
          <p:cNvSpPr/>
          <p:nvPr/>
        </p:nvSpPr>
        <p:spPr>
          <a:xfrm>
            <a:off x="495148" y="1600200"/>
            <a:ext cx="5440680" cy="1965960"/>
          </a:xfrm>
          <a:prstGeom prst="roundRect">
            <a:avLst>
              <a:gd name="adj" fmla="val 5581"/>
            </a:avLst>
          </a:prstGeom>
          <a:solidFill>
            <a:srgbClr val="FFFFFF"/>
          </a:solidFill>
          <a:ln w="12700">
            <a:solidFill>
              <a:srgbClr val="DCE8E8"/>
            </a:solidFill>
            <a:prstDash val="solid"/>
          </a:ln>
          <a:effectLst>
            <a:outerShdw sx="100000" sy="100000" kx="0" ky="0" algn="bl" rotWithShape="0" blurRad="88900" dist="25400" dir="5400000">
              <a:srgbClr val="0E2A32">
                <a:alpha val="16000"/>
              </a:srgbClr>
            </a:outerShdw>
          </a:effectLst>
        </p:spPr>
      </p:sp>
      <p:sp>
        <p:nvSpPr>
          <p:cNvPr id="11" name="Shape 7"/>
          <p:cNvSpPr/>
          <p:nvPr/>
        </p:nvSpPr>
        <p:spPr>
          <a:xfrm>
            <a:off x="4884268" y="2180844"/>
            <a:ext cx="804672" cy="804672"/>
          </a:xfrm>
          <a:prstGeom prst="ellipse">
            <a:avLst/>
          </a:prstGeom>
          <a:solidFill>
            <a:srgbClr val="00A896"/>
          </a:solidFill>
          <a:ln/>
        </p:spPr>
      </p:sp>
      <p:pic>
        <p:nvPicPr>
          <p:cNvPr id="12" name="Image 2" descr="preencoded.png">    </p:cNvPr>
          <p:cNvPicPr>
            <a:picLocks noChangeAspect="1"/>
          </p:cNvPicPr>
          <p:nvPr/>
        </p:nvPicPr>
        <p:blipFill>
          <a:blip r:embed="rId3"/>
          <a:stretch>
            <a:fillRect/>
          </a:stretch>
        </p:blipFill>
        <p:spPr>
          <a:xfrm>
            <a:off x="5093482" y="2390059"/>
            <a:ext cx="386243" cy="386243"/>
          </a:xfrm>
          <a:prstGeom prst="rect">
            <a:avLst/>
          </a:prstGeom>
        </p:spPr>
      </p:pic>
      <p:sp>
        <p:nvSpPr>
          <p:cNvPr id="13" name="Text 8"/>
          <p:cNvSpPr/>
          <p:nvPr/>
        </p:nvSpPr>
        <p:spPr>
          <a:xfrm>
            <a:off x="769468" y="187452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إدارة المرور</a:t>
            </a:r>
            <a:endParaRPr lang="ar-SA" sz="1700" dirty="0"/>
          </a:p>
        </p:txBody>
      </p:sp>
      <p:sp>
        <p:nvSpPr>
          <p:cNvPr id="14" name="Text 9"/>
          <p:cNvSpPr/>
          <p:nvPr/>
        </p:nvSpPr>
        <p:spPr>
          <a:xfrm>
            <a:off x="769468" y="2331720"/>
            <a:ext cx="3977640" cy="105156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إشارات ذكية تتكيف مع كثافة السير لحظياً وتقلل الازدحام والانبعاثات في المدن الكبرى.</a:t>
            </a:r>
            <a:endParaRPr lang="ar-SA" sz="1300" dirty="0"/>
          </a:p>
        </p:txBody>
      </p:sp>
      <p:sp>
        <p:nvSpPr>
          <p:cNvPr id="15" name="Shape 10"/>
          <p:cNvSpPr/>
          <p:nvPr/>
        </p:nvSpPr>
        <p:spPr>
          <a:xfrm>
            <a:off x="6255868" y="3886200"/>
            <a:ext cx="5440680" cy="1965960"/>
          </a:xfrm>
          <a:prstGeom prst="roundRect">
            <a:avLst>
              <a:gd name="adj" fmla="val 5581"/>
            </a:avLst>
          </a:prstGeom>
          <a:solidFill>
            <a:srgbClr val="FFFFFF"/>
          </a:solidFill>
          <a:ln w="12700">
            <a:solidFill>
              <a:srgbClr val="DCE8E8"/>
            </a:solidFill>
            <a:prstDash val="solid"/>
          </a:ln>
          <a:effectLst>
            <a:outerShdw sx="100000" sy="100000" kx="0" ky="0" algn="bl" rotWithShape="0" blurRad="88900" dist="25400" dir="5400000">
              <a:srgbClr val="0E2A32">
                <a:alpha val="16000"/>
              </a:srgbClr>
            </a:outerShdw>
          </a:effectLst>
        </p:spPr>
      </p:sp>
      <p:sp>
        <p:nvSpPr>
          <p:cNvPr id="16" name="Shape 11"/>
          <p:cNvSpPr/>
          <p:nvPr/>
        </p:nvSpPr>
        <p:spPr>
          <a:xfrm>
            <a:off x="10644988" y="4466844"/>
            <a:ext cx="804672" cy="804672"/>
          </a:xfrm>
          <a:prstGeom prst="ellipse">
            <a:avLst/>
          </a:prstGeom>
          <a:solidFill>
            <a:srgbClr val="028090"/>
          </a:solidFill>
          <a:ln/>
        </p:spPr>
      </p:sp>
      <p:pic>
        <p:nvPicPr>
          <p:cNvPr id="17" name="Image 3" descr="preencoded.png">    </p:cNvPr>
          <p:cNvPicPr>
            <a:picLocks noChangeAspect="1"/>
          </p:cNvPicPr>
          <p:nvPr/>
        </p:nvPicPr>
        <p:blipFill>
          <a:blip r:embed="rId4"/>
          <a:stretch>
            <a:fillRect/>
          </a:stretch>
        </p:blipFill>
        <p:spPr>
          <a:xfrm>
            <a:off x="10854202" y="4676059"/>
            <a:ext cx="386243" cy="386243"/>
          </a:xfrm>
          <a:prstGeom prst="rect">
            <a:avLst/>
          </a:prstGeom>
        </p:spPr>
      </p:pic>
      <p:sp>
        <p:nvSpPr>
          <p:cNvPr id="18" name="Text 12"/>
          <p:cNvSpPr/>
          <p:nvPr/>
        </p:nvSpPr>
        <p:spPr>
          <a:xfrm>
            <a:off x="6530188" y="416052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المنزل الذكي</a:t>
            </a:r>
            <a:endParaRPr lang="ar-SA" sz="1700" dirty="0"/>
          </a:p>
        </p:txBody>
      </p:sp>
      <p:sp>
        <p:nvSpPr>
          <p:cNvPr id="19" name="Text 13"/>
          <p:cNvSpPr/>
          <p:nvPr/>
        </p:nvSpPr>
        <p:spPr>
          <a:xfrm>
            <a:off x="6530188" y="4617720"/>
            <a:ext cx="3977640" cy="105156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مساعدات صوتية، إضاءة وتكييف يتعلمان جدولك اليومي لتوفير الطاقة والراحة.</a:t>
            </a:r>
            <a:endParaRPr lang="ar-SA" sz="1300" dirty="0"/>
          </a:p>
        </p:txBody>
      </p:sp>
      <p:sp>
        <p:nvSpPr>
          <p:cNvPr id="20" name="Shape 14"/>
          <p:cNvSpPr/>
          <p:nvPr/>
        </p:nvSpPr>
        <p:spPr>
          <a:xfrm>
            <a:off x="495148" y="3886200"/>
            <a:ext cx="5440680" cy="1965960"/>
          </a:xfrm>
          <a:prstGeom prst="roundRect">
            <a:avLst>
              <a:gd name="adj" fmla="val 5581"/>
            </a:avLst>
          </a:prstGeom>
          <a:solidFill>
            <a:srgbClr val="FFFFFF"/>
          </a:solidFill>
          <a:ln w="12700">
            <a:solidFill>
              <a:srgbClr val="DCE8E8"/>
            </a:solidFill>
            <a:prstDash val="solid"/>
          </a:ln>
          <a:effectLst>
            <a:outerShdw sx="100000" sy="100000" kx="0" ky="0" algn="bl" rotWithShape="0" blurRad="88900" dist="25400" dir="5400000">
              <a:srgbClr val="0E2A32">
                <a:alpha val="16000"/>
              </a:srgbClr>
            </a:outerShdw>
          </a:effectLst>
        </p:spPr>
      </p:sp>
      <p:sp>
        <p:nvSpPr>
          <p:cNvPr id="21" name="Shape 15"/>
          <p:cNvSpPr/>
          <p:nvPr/>
        </p:nvSpPr>
        <p:spPr>
          <a:xfrm>
            <a:off x="4884268" y="4466844"/>
            <a:ext cx="804672" cy="804672"/>
          </a:xfrm>
          <a:prstGeom prst="ellipse">
            <a:avLst/>
          </a:prstGeom>
          <a:solidFill>
            <a:srgbClr val="00A896"/>
          </a:solidFill>
          <a:ln/>
        </p:spPr>
      </p:sp>
      <p:pic>
        <p:nvPicPr>
          <p:cNvPr id="22" name="Image 4" descr="preencoded.png">    </p:cNvPr>
          <p:cNvPicPr>
            <a:picLocks noChangeAspect="1"/>
          </p:cNvPicPr>
          <p:nvPr/>
        </p:nvPicPr>
        <p:blipFill>
          <a:blip r:embed="rId5"/>
          <a:stretch>
            <a:fillRect/>
          </a:stretch>
        </p:blipFill>
        <p:spPr>
          <a:xfrm>
            <a:off x="5093482" y="4676059"/>
            <a:ext cx="386243" cy="386243"/>
          </a:xfrm>
          <a:prstGeom prst="rect">
            <a:avLst/>
          </a:prstGeom>
        </p:spPr>
      </p:pic>
      <p:sp>
        <p:nvSpPr>
          <p:cNvPr id="23" name="Text 16"/>
          <p:cNvSpPr/>
          <p:nvPr/>
        </p:nvSpPr>
        <p:spPr>
          <a:xfrm>
            <a:off x="769468" y="416052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الطقس والزراعة</a:t>
            </a:r>
            <a:endParaRPr lang="ar-SA" sz="1700" dirty="0"/>
          </a:p>
        </p:txBody>
      </p:sp>
      <p:sp>
        <p:nvSpPr>
          <p:cNvPr id="24" name="Text 17"/>
          <p:cNvSpPr/>
          <p:nvPr/>
        </p:nvSpPr>
        <p:spPr>
          <a:xfrm>
            <a:off x="769468" y="4617720"/>
            <a:ext cx="3977640" cy="105156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نماذج تتوقع الطقس بدقة أعلى، وطائرات مسيّرة تراقب المحاصيل وتحدد احتياجها للري.</a:t>
            </a:r>
            <a:endParaRPr lang="ar-SA" sz="1300" dirty="0"/>
          </a:p>
        </p:txBody>
      </p:sp>
      <p:sp>
        <p:nvSpPr>
          <p:cNvPr id="25" name="Text 18"/>
          <p:cNvSpPr/>
          <p:nvPr/>
        </p:nvSpPr>
        <p:spPr>
          <a:xfrm>
            <a:off x="548640" y="6172200"/>
            <a:ext cx="11094415" cy="411480"/>
          </a:xfrm>
          <a:prstGeom prst="rect">
            <a:avLst/>
          </a:prstGeom>
          <a:noFill/>
          <a:ln/>
        </p:spPr>
        <p:txBody>
          <a:bodyPr wrap="square" rtlCol="0" anchor="ctr"/>
          <a:lstStyle/>
          <a:p>
            <a:pPr rtl="1" algn="ctr" indent="0" marL="0">
              <a:buNone/>
            </a:pPr>
            <a:r>
              <a:rPr lang="ar-SA" altLang="en-US" sz="1400" i="1" dirty="0">
                <a:solidFill>
                  <a:srgbClr val="028090"/>
                </a:solidFill>
                <a:latin typeface="Arial" pitchFamily="34" charset="0"/>
                <a:ea typeface="Arial" pitchFamily="34" charset="-122"/>
                <a:cs typeface="Arial" pitchFamily="34" charset="-120"/>
              </a:rPr>
              <a:t>من إشارة المرور إلى مكيف غرفتك — البنية التحتية من حولنا تصبح أذكى عاماً بعد عام.</a:t>
            </a:r>
            <a:endParaRPr lang="ar-SA"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تحديات يجب أن نعيها</a:t>
            </a:r>
            <a:endParaRPr lang="ar-SA" sz="3100" dirty="0"/>
          </a:p>
        </p:txBody>
      </p:sp>
      <p:sp>
        <p:nvSpPr>
          <p:cNvPr id="5" name="Shape 2"/>
          <p:cNvSpPr/>
          <p:nvPr/>
        </p:nvSpPr>
        <p:spPr>
          <a:xfrm>
            <a:off x="6255868" y="1600200"/>
            <a:ext cx="5440680" cy="1965960"/>
          </a:xfrm>
          <a:prstGeom prst="roundRect">
            <a:avLst>
              <a:gd name="adj" fmla="val 5581"/>
            </a:avLst>
          </a:prstGeom>
          <a:solidFill>
            <a:srgbClr val="F2F7F7"/>
          </a:solidFill>
          <a:ln/>
          <a:effectLst>
            <a:outerShdw sx="100000" sy="100000" kx="0" ky="0" algn="bl" rotWithShape="0" blurRad="88900" dist="25400" dir="5400000">
              <a:srgbClr val="0E2A32">
                <a:alpha val="16000"/>
              </a:srgbClr>
            </a:outerShdw>
          </a:effectLst>
        </p:spPr>
      </p:sp>
      <p:sp>
        <p:nvSpPr>
          <p:cNvPr id="6" name="Shape 3"/>
          <p:cNvSpPr/>
          <p:nvPr/>
        </p:nvSpPr>
        <p:spPr>
          <a:xfrm>
            <a:off x="10644988" y="2180844"/>
            <a:ext cx="804672" cy="804672"/>
          </a:xfrm>
          <a:prstGeom prst="ellipse">
            <a:avLst/>
          </a:prstGeom>
          <a:solidFill>
            <a:srgbClr val="0E2A32"/>
          </a:solidFill>
          <a:ln/>
        </p:spPr>
      </p:sp>
      <p:pic>
        <p:nvPicPr>
          <p:cNvPr id="7" name="Image 1" descr="preencoded.png">    </p:cNvPr>
          <p:cNvPicPr>
            <a:picLocks noChangeAspect="1"/>
          </p:cNvPicPr>
          <p:nvPr/>
        </p:nvPicPr>
        <p:blipFill>
          <a:blip r:embed="rId2"/>
          <a:stretch>
            <a:fillRect/>
          </a:stretch>
        </p:blipFill>
        <p:spPr>
          <a:xfrm>
            <a:off x="10854202" y="2390059"/>
            <a:ext cx="386243" cy="386243"/>
          </a:xfrm>
          <a:prstGeom prst="rect">
            <a:avLst/>
          </a:prstGeom>
        </p:spPr>
      </p:pic>
      <p:sp>
        <p:nvSpPr>
          <p:cNvPr id="8" name="Text 4"/>
          <p:cNvSpPr/>
          <p:nvPr/>
        </p:nvSpPr>
        <p:spPr>
          <a:xfrm>
            <a:off x="6530188" y="187452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الخصوصية</a:t>
            </a:r>
            <a:endParaRPr lang="ar-SA" sz="1700" dirty="0"/>
          </a:p>
        </p:txBody>
      </p:sp>
      <p:sp>
        <p:nvSpPr>
          <p:cNvPr id="9" name="Text 5"/>
          <p:cNvSpPr/>
          <p:nvPr/>
        </p:nvSpPr>
        <p:spPr>
          <a:xfrm>
            <a:off x="6530188" y="2331720"/>
            <a:ext cx="3977640" cy="105156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بياناتك هي الوقود: كل نقرة ومشاهدة تُجمع وتُحلل. اقرأ الصلاحيات وفكر فيما تشاركه.</a:t>
            </a:r>
            <a:endParaRPr lang="ar-SA" sz="1300" dirty="0"/>
          </a:p>
        </p:txBody>
      </p:sp>
      <p:sp>
        <p:nvSpPr>
          <p:cNvPr id="10" name="Shape 6"/>
          <p:cNvSpPr/>
          <p:nvPr/>
        </p:nvSpPr>
        <p:spPr>
          <a:xfrm>
            <a:off x="495148" y="1600200"/>
            <a:ext cx="5440680" cy="1965960"/>
          </a:xfrm>
          <a:prstGeom prst="roundRect">
            <a:avLst>
              <a:gd name="adj" fmla="val 5581"/>
            </a:avLst>
          </a:prstGeom>
          <a:solidFill>
            <a:srgbClr val="F2F7F7"/>
          </a:solidFill>
          <a:ln/>
          <a:effectLst>
            <a:outerShdw sx="100000" sy="100000" kx="0" ky="0" algn="bl" rotWithShape="0" blurRad="88900" dist="25400" dir="5400000">
              <a:srgbClr val="0E2A32">
                <a:alpha val="16000"/>
              </a:srgbClr>
            </a:outerShdw>
          </a:effectLst>
        </p:spPr>
      </p:sp>
      <p:sp>
        <p:nvSpPr>
          <p:cNvPr id="11" name="Shape 7"/>
          <p:cNvSpPr/>
          <p:nvPr/>
        </p:nvSpPr>
        <p:spPr>
          <a:xfrm>
            <a:off x="4884268" y="2180844"/>
            <a:ext cx="804672" cy="804672"/>
          </a:xfrm>
          <a:prstGeom prst="ellipse">
            <a:avLst/>
          </a:prstGeom>
          <a:solidFill>
            <a:srgbClr val="0E2A32"/>
          </a:solidFill>
          <a:ln/>
        </p:spPr>
      </p:sp>
      <p:pic>
        <p:nvPicPr>
          <p:cNvPr id="12" name="Image 2" descr="preencoded.png">    </p:cNvPr>
          <p:cNvPicPr>
            <a:picLocks noChangeAspect="1"/>
          </p:cNvPicPr>
          <p:nvPr/>
        </p:nvPicPr>
        <p:blipFill>
          <a:blip r:embed="rId3"/>
          <a:stretch>
            <a:fillRect/>
          </a:stretch>
        </p:blipFill>
        <p:spPr>
          <a:xfrm>
            <a:off x="5093482" y="2390059"/>
            <a:ext cx="386243" cy="386243"/>
          </a:xfrm>
          <a:prstGeom prst="rect">
            <a:avLst/>
          </a:prstGeom>
        </p:spPr>
      </p:pic>
      <p:sp>
        <p:nvSpPr>
          <p:cNvPr id="13" name="Text 8"/>
          <p:cNvSpPr/>
          <p:nvPr/>
        </p:nvSpPr>
        <p:spPr>
          <a:xfrm>
            <a:off x="769468" y="187452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التحيز</a:t>
            </a:r>
            <a:endParaRPr lang="ar-SA" sz="1700" dirty="0"/>
          </a:p>
        </p:txBody>
      </p:sp>
      <p:sp>
        <p:nvSpPr>
          <p:cNvPr id="14" name="Text 9"/>
          <p:cNvSpPr/>
          <p:nvPr/>
        </p:nvSpPr>
        <p:spPr>
          <a:xfrm>
            <a:off x="769468" y="2331720"/>
            <a:ext cx="3977640" cy="105156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النموذج يتعلم من بيانات بشرية قد تحمل تحيزات — فيكررها في قراراته دون قصد.</a:t>
            </a:r>
            <a:endParaRPr lang="ar-SA" sz="1300" dirty="0"/>
          </a:p>
        </p:txBody>
      </p:sp>
      <p:sp>
        <p:nvSpPr>
          <p:cNvPr id="15" name="Shape 10"/>
          <p:cNvSpPr/>
          <p:nvPr/>
        </p:nvSpPr>
        <p:spPr>
          <a:xfrm>
            <a:off x="6255868" y="3886200"/>
            <a:ext cx="5440680" cy="1965960"/>
          </a:xfrm>
          <a:prstGeom prst="roundRect">
            <a:avLst>
              <a:gd name="adj" fmla="val 5581"/>
            </a:avLst>
          </a:prstGeom>
          <a:solidFill>
            <a:srgbClr val="F2F7F7"/>
          </a:solidFill>
          <a:ln/>
          <a:effectLst>
            <a:outerShdw sx="100000" sy="100000" kx="0" ky="0" algn="bl" rotWithShape="0" blurRad="88900" dist="25400" dir="5400000">
              <a:srgbClr val="0E2A32">
                <a:alpha val="16000"/>
              </a:srgbClr>
            </a:outerShdw>
          </a:effectLst>
        </p:spPr>
      </p:sp>
      <p:sp>
        <p:nvSpPr>
          <p:cNvPr id="16" name="Shape 11"/>
          <p:cNvSpPr/>
          <p:nvPr/>
        </p:nvSpPr>
        <p:spPr>
          <a:xfrm>
            <a:off x="10644988" y="4466844"/>
            <a:ext cx="804672" cy="804672"/>
          </a:xfrm>
          <a:prstGeom prst="ellipse">
            <a:avLst/>
          </a:prstGeom>
          <a:solidFill>
            <a:srgbClr val="0E2A32"/>
          </a:solidFill>
          <a:ln/>
        </p:spPr>
      </p:sp>
      <p:pic>
        <p:nvPicPr>
          <p:cNvPr id="17" name="Image 3" descr="preencoded.png">    </p:cNvPr>
          <p:cNvPicPr>
            <a:picLocks noChangeAspect="1"/>
          </p:cNvPicPr>
          <p:nvPr/>
        </p:nvPicPr>
        <p:blipFill>
          <a:blip r:embed="rId4"/>
          <a:stretch>
            <a:fillRect/>
          </a:stretch>
        </p:blipFill>
        <p:spPr>
          <a:xfrm>
            <a:off x="10854202" y="4676059"/>
            <a:ext cx="386243" cy="386243"/>
          </a:xfrm>
          <a:prstGeom prst="rect">
            <a:avLst/>
          </a:prstGeom>
        </p:spPr>
      </p:pic>
      <p:sp>
        <p:nvSpPr>
          <p:cNvPr id="18" name="Text 12"/>
          <p:cNvSpPr/>
          <p:nvPr/>
        </p:nvSpPr>
        <p:spPr>
          <a:xfrm>
            <a:off x="6530188" y="416052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المعلومات المضللة</a:t>
            </a:r>
            <a:endParaRPr lang="ar-SA" sz="1700" dirty="0"/>
          </a:p>
        </p:txBody>
      </p:sp>
      <p:sp>
        <p:nvSpPr>
          <p:cNvPr id="19" name="Text 13"/>
          <p:cNvSpPr/>
          <p:nvPr/>
        </p:nvSpPr>
        <p:spPr>
          <a:xfrm>
            <a:off x="6530188" y="4617720"/>
            <a:ext cx="3977640" cy="105156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التزييف العميق (Deepfake) ينتج صوراً وفيديوهات مزيفة يصعب تمييزها — تحقق قبل أن تصدق أو تشارك.</a:t>
            </a:r>
            <a:endParaRPr lang="ar-SA" sz="1300" dirty="0"/>
          </a:p>
        </p:txBody>
      </p:sp>
      <p:sp>
        <p:nvSpPr>
          <p:cNvPr id="20" name="Shape 14"/>
          <p:cNvSpPr/>
          <p:nvPr/>
        </p:nvSpPr>
        <p:spPr>
          <a:xfrm>
            <a:off x="495148" y="3886200"/>
            <a:ext cx="5440680" cy="1965960"/>
          </a:xfrm>
          <a:prstGeom prst="roundRect">
            <a:avLst>
              <a:gd name="adj" fmla="val 5581"/>
            </a:avLst>
          </a:prstGeom>
          <a:solidFill>
            <a:srgbClr val="F2F7F7"/>
          </a:solidFill>
          <a:ln/>
          <a:effectLst>
            <a:outerShdw sx="100000" sy="100000" kx="0" ky="0" algn="bl" rotWithShape="0" blurRad="88900" dist="25400" dir="5400000">
              <a:srgbClr val="0E2A32">
                <a:alpha val="16000"/>
              </a:srgbClr>
            </a:outerShdw>
          </a:effectLst>
        </p:spPr>
      </p:sp>
      <p:sp>
        <p:nvSpPr>
          <p:cNvPr id="21" name="Shape 15"/>
          <p:cNvSpPr/>
          <p:nvPr/>
        </p:nvSpPr>
        <p:spPr>
          <a:xfrm>
            <a:off x="4884268" y="4466844"/>
            <a:ext cx="804672" cy="804672"/>
          </a:xfrm>
          <a:prstGeom prst="ellipse">
            <a:avLst/>
          </a:prstGeom>
          <a:solidFill>
            <a:srgbClr val="0E2A32"/>
          </a:solidFill>
          <a:ln/>
        </p:spPr>
      </p:sp>
      <p:pic>
        <p:nvPicPr>
          <p:cNvPr id="22" name="Image 4" descr="preencoded.png">    </p:cNvPr>
          <p:cNvPicPr>
            <a:picLocks noChangeAspect="1"/>
          </p:cNvPicPr>
          <p:nvPr/>
        </p:nvPicPr>
        <p:blipFill>
          <a:blip r:embed="rId5"/>
          <a:stretch>
            <a:fillRect/>
          </a:stretch>
        </p:blipFill>
        <p:spPr>
          <a:xfrm>
            <a:off x="5093482" y="4676059"/>
            <a:ext cx="386243" cy="386243"/>
          </a:xfrm>
          <a:prstGeom prst="rect">
            <a:avLst/>
          </a:prstGeom>
        </p:spPr>
      </p:pic>
      <p:sp>
        <p:nvSpPr>
          <p:cNvPr id="23" name="Text 16"/>
          <p:cNvSpPr/>
          <p:nvPr/>
        </p:nvSpPr>
        <p:spPr>
          <a:xfrm>
            <a:off x="769468" y="4160520"/>
            <a:ext cx="3977640" cy="411480"/>
          </a:xfrm>
          <a:prstGeom prst="rect">
            <a:avLst/>
          </a:prstGeom>
          <a:noFill/>
          <a:ln/>
        </p:spPr>
        <p:txBody>
          <a:bodyPr wrap="square" rtlCol="0" anchor="ctr"/>
          <a:lstStyle/>
          <a:p>
            <a:pPr rtl="1" algn="r" indent="0" marL="0">
              <a:buNone/>
            </a:pPr>
            <a:r>
              <a:rPr lang="ar-SA" altLang="en-US" sz="1700" b="1" dirty="0">
                <a:solidFill>
                  <a:srgbClr val="0E2A32"/>
                </a:solidFill>
                <a:latin typeface="Arial" pitchFamily="34" charset="0"/>
                <a:ea typeface="Arial" pitchFamily="34" charset="-122"/>
                <a:cs typeface="Arial" pitchFamily="34" charset="-120"/>
              </a:rPr>
              <a:t>الاعتماد الزائد</a:t>
            </a:r>
            <a:endParaRPr lang="ar-SA" sz="1700" dirty="0"/>
          </a:p>
        </p:txBody>
      </p:sp>
      <p:sp>
        <p:nvSpPr>
          <p:cNvPr id="24" name="Text 17"/>
          <p:cNvSpPr/>
          <p:nvPr/>
        </p:nvSpPr>
        <p:spPr>
          <a:xfrm>
            <a:off x="769468" y="4617720"/>
            <a:ext cx="3977640" cy="1051560"/>
          </a:xfrm>
          <a:prstGeom prst="rect">
            <a:avLst/>
          </a:prstGeom>
          <a:noFill/>
          <a:ln/>
        </p:spPr>
        <p:txBody>
          <a:bodyPr wrap="square" rtlCol="0" anchor="ctr"/>
          <a:lstStyle/>
          <a:p>
            <a:pPr rtl="1" algn="r" indent="0" marL="0">
              <a:lnSpc>
                <a:spcPct val="120000"/>
              </a:lnSpc>
              <a:buNone/>
            </a:pPr>
            <a:r>
              <a:rPr lang="ar-SA" altLang="en-US" sz="1300" dirty="0">
                <a:solidFill>
                  <a:srgbClr val="587076"/>
                </a:solidFill>
                <a:latin typeface="Arial" pitchFamily="34" charset="0"/>
                <a:ea typeface="Arial" pitchFamily="34" charset="-122"/>
                <a:cs typeface="Arial" pitchFamily="34" charset="-120"/>
              </a:rPr>
              <a:t>إن تركت الأداة تفكر بدلاً عنك ضمرت مهاراتك — استخدمها لتتعلم أسرع، لا لتتوقف عن التعلم.</a:t>
            </a:r>
            <a:endParaRPr lang="ar-SA" sz="1300" dirty="0"/>
          </a:p>
        </p:txBody>
      </p:sp>
      <p:sp>
        <p:nvSpPr>
          <p:cNvPr id="25" name="Text 18"/>
          <p:cNvSpPr/>
          <p:nvPr/>
        </p:nvSpPr>
        <p:spPr>
          <a:xfrm>
            <a:off x="548640" y="6172200"/>
            <a:ext cx="11094415" cy="411480"/>
          </a:xfrm>
          <a:prstGeom prst="rect">
            <a:avLst/>
          </a:prstGeom>
          <a:noFill/>
          <a:ln/>
        </p:spPr>
        <p:txBody>
          <a:bodyPr wrap="square" rtlCol="0" anchor="ctr"/>
          <a:lstStyle/>
          <a:p>
            <a:pPr rtl="1" algn="ctr" indent="0" marL="0">
              <a:buNone/>
            </a:pPr>
            <a:r>
              <a:rPr lang="ar-SA" altLang="en-US" sz="1400" i="1" dirty="0">
                <a:solidFill>
                  <a:srgbClr val="028090"/>
                </a:solidFill>
                <a:latin typeface="Arial" pitchFamily="34" charset="0"/>
                <a:ea typeface="Arial" pitchFamily="34" charset="-122"/>
                <a:cs typeface="Arial" pitchFamily="34" charset="-120"/>
              </a:rPr>
              <a:t>التقنية محايدة — طريقة استخدامنا لها هي التي تصنع الفرق.</a:t>
            </a:r>
            <a:endParaRPr lang="ar-SA"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76127" y="384048"/>
            <a:ext cx="566928" cy="56692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11223528" y="531449"/>
            <a:ext cx="272125" cy="272125"/>
          </a:xfrm>
          <a:prstGeom prst="rect">
            <a:avLst/>
          </a:prstGeom>
        </p:spPr>
      </p:pic>
      <p:sp>
        <p:nvSpPr>
          <p:cNvPr id="4" name="Text 1"/>
          <p:cNvSpPr/>
          <p:nvPr/>
        </p:nvSpPr>
        <p:spPr>
          <a:xfrm>
            <a:off x="548640" y="310896"/>
            <a:ext cx="10298887" cy="713232"/>
          </a:xfrm>
          <a:prstGeom prst="rect">
            <a:avLst/>
          </a:prstGeom>
          <a:noFill/>
          <a:ln/>
        </p:spPr>
        <p:txBody>
          <a:bodyPr wrap="square" rtlCol="0" anchor="ctr"/>
          <a:lstStyle/>
          <a:p>
            <a:pPr rtl="1" algn="r" indent="0" marL="0">
              <a:buNone/>
            </a:pPr>
            <a:r>
              <a:rPr lang="ar-SA" altLang="en-US" sz="3100" b="1" dirty="0">
                <a:solidFill>
                  <a:srgbClr val="0E2A32"/>
                </a:solidFill>
                <a:latin typeface="Arial" pitchFamily="34" charset="0"/>
                <a:ea typeface="Arial" pitchFamily="34" charset="-122"/>
                <a:cs typeface="Arial" pitchFamily="34" charset="-120"/>
              </a:rPr>
              <a:t>مستقبلك مع الذكاء الاصطناعي</a:t>
            </a:r>
            <a:endParaRPr lang="ar-SA" sz="3100" dirty="0"/>
          </a:p>
        </p:txBody>
      </p:sp>
      <p:sp>
        <p:nvSpPr>
          <p:cNvPr id="5" name="Shape 2"/>
          <p:cNvSpPr/>
          <p:nvPr/>
        </p:nvSpPr>
        <p:spPr>
          <a:xfrm>
            <a:off x="10911535" y="1645920"/>
            <a:ext cx="731520" cy="731520"/>
          </a:xfrm>
          <a:prstGeom prst="ellipse">
            <a:avLst/>
          </a:prstGeom>
          <a:solidFill>
            <a:srgbClr val="028090"/>
          </a:solidFill>
          <a:ln/>
        </p:spPr>
      </p:sp>
      <p:pic>
        <p:nvPicPr>
          <p:cNvPr id="6" name="Image 1" descr="preencoded.png">    </p:cNvPr>
          <p:cNvPicPr>
            <a:picLocks noChangeAspect="1"/>
          </p:cNvPicPr>
          <p:nvPr/>
        </p:nvPicPr>
        <p:blipFill>
          <a:blip r:embed="rId2"/>
          <a:stretch>
            <a:fillRect/>
          </a:stretch>
        </p:blipFill>
        <p:spPr>
          <a:xfrm>
            <a:off x="11101730" y="1836115"/>
            <a:ext cx="351130" cy="351130"/>
          </a:xfrm>
          <a:prstGeom prst="rect">
            <a:avLst/>
          </a:prstGeom>
        </p:spPr>
      </p:pic>
      <p:sp>
        <p:nvSpPr>
          <p:cNvPr id="7" name="Text 3"/>
          <p:cNvSpPr/>
          <p:nvPr/>
        </p:nvSpPr>
        <p:spPr>
          <a:xfrm>
            <a:off x="4892040" y="1554480"/>
            <a:ext cx="5745175" cy="384048"/>
          </a:xfrm>
          <a:prstGeom prst="rect">
            <a:avLst/>
          </a:prstGeom>
          <a:noFill/>
          <a:ln/>
        </p:spPr>
        <p:txBody>
          <a:bodyPr wrap="square" rtlCol="0" anchor="ctr"/>
          <a:lstStyle/>
          <a:p>
            <a:pPr rtl="1" algn="r" indent="0" marL="0">
              <a:buNone/>
            </a:pPr>
            <a:r>
              <a:rPr lang="ar-SA" altLang="en-US" sz="1600" b="1" dirty="0">
                <a:solidFill>
                  <a:srgbClr val="0E2A32"/>
                </a:solidFill>
                <a:latin typeface="Arial" pitchFamily="34" charset="0"/>
                <a:ea typeface="Arial" pitchFamily="34" charset="-122"/>
                <a:cs typeface="Arial" pitchFamily="34" charset="-120"/>
              </a:rPr>
              <a:t>أساسيات البرمجة والبيانات</a:t>
            </a:r>
            <a:endParaRPr lang="ar-SA" sz="1600" dirty="0"/>
          </a:p>
        </p:txBody>
      </p:sp>
      <p:sp>
        <p:nvSpPr>
          <p:cNvPr id="8" name="Text 4"/>
          <p:cNvSpPr/>
          <p:nvPr/>
        </p:nvSpPr>
        <p:spPr>
          <a:xfrm>
            <a:off x="4892040" y="1938528"/>
            <a:ext cx="5745175" cy="603504"/>
          </a:xfrm>
          <a:prstGeom prst="rect">
            <a:avLst/>
          </a:prstGeom>
          <a:noFill/>
          <a:ln/>
        </p:spPr>
        <p:txBody>
          <a:bodyPr wrap="square" rtlCol="0" anchor="ctr"/>
          <a:lstStyle/>
          <a:p>
            <a:pPr rtl="1" algn="r" indent="0" marL="0">
              <a:lnSpc>
                <a:spcPct val="112000"/>
              </a:lnSpc>
              <a:buNone/>
            </a:pPr>
            <a:r>
              <a:rPr lang="ar-SA" altLang="en-US" sz="1250" dirty="0">
                <a:solidFill>
                  <a:srgbClr val="587076"/>
                </a:solidFill>
                <a:latin typeface="Arial" pitchFamily="34" charset="0"/>
                <a:ea typeface="Arial" pitchFamily="34" charset="-122"/>
                <a:cs typeface="Arial" pitchFamily="34" charset="-120"/>
              </a:rPr>
              <a:t>لغة Python مدخل ممتاز لفهم كيف تعمل هذه الأنظمة من الداخل.</a:t>
            </a:r>
            <a:endParaRPr lang="ar-SA" sz="1250" dirty="0"/>
          </a:p>
        </p:txBody>
      </p:sp>
      <p:sp>
        <p:nvSpPr>
          <p:cNvPr id="9" name="Shape 5"/>
          <p:cNvSpPr/>
          <p:nvPr/>
        </p:nvSpPr>
        <p:spPr>
          <a:xfrm>
            <a:off x="10911535" y="2798064"/>
            <a:ext cx="731520" cy="731520"/>
          </a:xfrm>
          <a:prstGeom prst="ellipse">
            <a:avLst/>
          </a:prstGeom>
          <a:solidFill>
            <a:srgbClr val="00A896"/>
          </a:solidFill>
          <a:ln/>
        </p:spPr>
      </p:sp>
      <p:pic>
        <p:nvPicPr>
          <p:cNvPr id="10" name="Image 2" descr="preencoded.png">    </p:cNvPr>
          <p:cNvPicPr>
            <a:picLocks noChangeAspect="1"/>
          </p:cNvPicPr>
          <p:nvPr/>
        </p:nvPicPr>
        <p:blipFill>
          <a:blip r:embed="rId3"/>
          <a:stretch>
            <a:fillRect/>
          </a:stretch>
        </p:blipFill>
        <p:spPr>
          <a:xfrm>
            <a:off x="11101730" y="2988259"/>
            <a:ext cx="351130" cy="351130"/>
          </a:xfrm>
          <a:prstGeom prst="rect">
            <a:avLst/>
          </a:prstGeom>
        </p:spPr>
      </p:pic>
      <p:sp>
        <p:nvSpPr>
          <p:cNvPr id="11" name="Text 6"/>
          <p:cNvSpPr/>
          <p:nvPr/>
        </p:nvSpPr>
        <p:spPr>
          <a:xfrm>
            <a:off x="4892040" y="2706624"/>
            <a:ext cx="5745175" cy="384048"/>
          </a:xfrm>
          <a:prstGeom prst="rect">
            <a:avLst/>
          </a:prstGeom>
          <a:noFill/>
          <a:ln/>
        </p:spPr>
        <p:txBody>
          <a:bodyPr wrap="square" rtlCol="0" anchor="ctr"/>
          <a:lstStyle/>
          <a:p>
            <a:pPr rtl="1" algn="r" indent="0" marL="0">
              <a:buNone/>
            </a:pPr>
            <a:r>
              <a:rPr lang="ar-SA" altLang="en-US" sz="1600" b="1" dirty="0">
                <a:solidFill>
                  <a:srgbClr val="0E2A32"/>
                </a:solidFill>
                <a:latin typeface="Arial" pitchFamily="34" charset="0"/>
                <a:ea typeface="Arial" pitchFamily="34" charset="-122"/>
                <a:cs typeface="Arial" pitchFamily="34" charset="-120"/>
              </a:rPr>
              <a:t>التفكير النقدي</a:t>
            </a:r>
            <a:endParaRPr lang="ar-SA" sz="1600" dirty="0"/>
          </a:p>
        </p:txBody>
      </p:sp>
      <p:sp>
        <p:nvSpPr>
          <p:cNvPr id="12" name="Text 7"/>
          <p:cNvSpPr/>
          <p:nvPr/>
        </p:nvSpPr>
        <p:spPr>
          <a:xfrm>
            <a:off x="4892040" y="3090672"/>
            <a:ext cx="5745175" cy="603504"/>
          </a:xfrm>
          <a:prstGeom prst="rect">
            <a:avLst/>
          </a:prstGeom>
          <a:noFill/>
          <a:ln/>
        </p:spPr>
        <p:txBody>
          <a:bodyPr wrap="square" rtlCol="0" anchor="ctr"/>
          <a:lstStyle/>
          <a:p>
            <a:pPr rtl="1" algn="r" indent="0" marL="0">
              <a:lnSpc>
                <a:spcPct val="112000"/>
              </a:lnSpc>
              <a:buNone/>
            </a:pPr>
            <a:r>
              <a:rPr lang="ar-SA" altLang="en-US" sz="1250" dirty="0">
                <a:solidFill>
                  <a:srgbClr val="587076"/>
                </a:solidFill>
                <a:latin typeface="Arial" pitchFamily="34" charset="0"/>
                <a:ea typeface="Arial" pitchFamily="34" charset="-122"/>
                <a:cs typeface="Arial" pitchFamily="34" charset="-120"/>
              </a:rPr>
              <a:t>أهم مهارة في عصر المعلومات: اسأل، قارن، وتحقق قبل التصديق.</a:t>
            </a:r>
            <a:endParaRPr lang="ar-SA" sz="1250" dirty="0"/>
          </a:p>
        </p:txBody>
      </p:sp>
      <p:sp>
        <p:nvSpPr>
          <p:cNvPr id="13" name="Shape 8"/>
          <p:cNvSpPr/>
          <p:nvPr/>
        </p:nvSpPr>
        <p:spPr>
          <a:xfrm>
            <a:off x="10911535" y="3950208"/>
            <a:ext cx="731520" cy="731520"/>
          </a:xfrm>
          <a:prstGeom prst="ellipse">
            <a:avLst/>
          </a:prstGeom>
          <a:solidFill>
            <a:srgbClr val="028090"/>
          </a:solidFill>
          <a:ln/>
        </p:spPr>
      </p:sp>
      <p:pic>
        <p:nvPicPr>
          <p:cNvPr id="14" name="Image 3" descr="preencoded.png">    </p:cNvPr>
          <p:cNvPicPr>
            <a:picLocks noChangeAspect="1"/>
          </p:cNvPicPr>
          <p:nvPr/>
        </p:nvPicPr>
        <p:blipFill>
          <a:blip r:embed="rId4"/>
          <a:stretch>
            <a:fillRect/>
          </a:stretch>
        </p:blipFill>
        <p:spPr>
          <a:xfrm>
            <a:off x="11101730" y="4140403"/>
            <a:ext cx="351130" cy="351130"/>
          </a:xfrm>
          <a:prstGeom prst="rect">
            <a:avLst/>
          </a:prstGeom>
        </p:spPr>
      </p:pic>
      <p:sp>
        <p:nvSpPr>
          <p:cNvPr id="15" name="Text 9"/>
          <p:cNvSpPr/>
          <p:nvPr/>
        </p:nvSpPr>
        <p:spPr>
          <a:xfrm>
            <a:off x="4892040" y="3858768"/>
            <a:ext cx="5745175" cy="384048"/>
          </a:xfrm>
          <a:prstGeom prst="rect">
            <a:avLst/>
          </a:prstGeom>
          <a:noFill/>
          <a:ln/>
        </p:spPr>
        <p:txBody>
          <a:bodyPr wrap="square" rtlCol="0" anchor="ctr"/>
          <a:lstStyle/>
          <a:p>
            <a:pPr rtl="1" algn="r" indent="0" marL="0">
              <a:buNone/>
            </a:pPr>
            <a:r>
              <a:rPr lang="ar-SA" altLang="en-US" sz="1600" b="1" dirty="0">
                <a:solidFill>
                  <a:srgbClr val="0E2A32"/>
                </a:solidFill>
                <a:latin typeface="Arial" pitchFamily="34" charset="0"/>
                <a:ea typeface="Arial" pitchFamily="34" charset="-122"/>
                <a:cs typeface="Arial" pitchFamily="34" charset="-120"/>
              </a:rPr>
              <a:t>التواصل مع النماذج</a:t>
            </a:r>
            <a:endParaRPr lang="ar-SA" sz="1600" dirty="0"/>
          </a:p>
        </p:txBody>
      </p:sp>
      <p:sp>
        <p:nvSpPr>
          <p:cNvPr id="16" name="Text 10"/>
          <p:cNvSpPr/>
          <p:nvPr/>
        </p:nvSpPr>
        <p:spPr>
          <a:xfrm>
            <a:off x="4892040" y="4242816"/>
            <a:ext cx="5745175" cy="603504"/>
          </a:xfrm>
          <a:prstGeom prst="rect">
            <a:avLst/>
          </a:prstGeom>
          <a:noFill/>
          <a:ln/>
        </p:spPr>
        <p:txBody>
          <a:bodyPr wrap="square" rtlCol="0" anchor="ctr"/>
          <a:lstStyle/>
          <a:p>
            <a:pPr rtl="1" algn="r" indent="0" marL="0">
              <a:lnSpc>
                <a:spcPct val="112000"/>
              </a:lnSpc>
              <a:buNone/>
            </a:pPr>
            <a:r>
              <a:rPr lang="ar-SA" altLang="en-US" sz="1250" dirty="0">
                <a:solidFill>
                  <a:srgbClr val="587076"/>
                </a:solidFill>
                <a:latin typeface="Arial" pitchFamily="34" charset="0"/>
                <a:ea typeface="Arial" pitchFamily="34" charset="-122"/>
                <a:cs typeface="Arial" pitchFamily="34" charset="-120"/>
              </a:rPr>
              <a:t>صياغة الأوامر بوضوح (Prompting) مهارة جديدة يحتاجها كل تخصص.</a:t>
            </a:r>
            <a:endParaRPr lang="ar-SA" sz="1250" dirty="0"/>
          </a:p>
        </p:txBody>
      </p:sp>
      <p:sp>
        <p:nvSpPr>
          <p:cNvPr id="17" name="Shape 11"/>
          <p:cNvSpPr/>
          <p:nvPr/>
        </p:nvSpPr>
        <p:spPr>
          <a:xfrm>
            <a:off x="10911535" y="5102352"/>
            <a:ext cx="731520" cy="731520"/>
          </a:xfrm>
          <a:prstGeom prst="ellipse">
            <a:avLst/>
          </a:prstGeom>
          <a:solidFill>
            <a:srgbClr val="00A896"/>
          </a:solidFill>
          <a:ln/>
        </p:spPr>
      </p:sp>
      <p:pic>
        <p:nvPicPr>
          <p:cNvPr id="18" name="Image 4" descr="preencoded.png">    </p:cNvPr>
          <p:cNvPicPr>
            <a:picLocks noChangeAspect="1"/>
          </p:cNvPicPr>
          <p:nvPr/>
        </p:nvPicPr>
        <p:blipFill>
          <a:blip r:embed="rId5"/>
          <a:stretch>
            <a:fillRect/>
          </a:stretch>
        </p:blipFill>
        <p:spPr>
          <a:xfrm>
            <a:off x="11101730" y="5292547"/>
            <a:ext cx="351130" cy="351130"/>
          </a:xfrm>
          <a:prstGeom prst="rect">
            <a:avLst/>
          </a:prstGeom>
        </p:spPr>
      </p:pic>
      <p:sp>
        <p:nvSpPr>
          <p:cNvPr id="19" name="Text 12"/>
          <p:cNvSpPr/>
          <p:nvPr/>
        </p:nvSpPr>
        <p:spPr>
          <a:xfrm>
            <a:off x="4892040" y="5010912"/>
            <a:ext cx="5745175" cy="384048"/>
          </a:xfrm>
          <a:prstGeom prst="rect">
            <a:avLst/>
          </a:prstGeom>
          <a:noFill/>
          <a:ln/>
        </p:spPr>
        <p:txBody>
          <a:bodyPr wrap="square" rtlCol="0" anchor="ctr"/>
          <a:lstStyle/>
          <a:p>
            <a:pPr rtl="1" algn="r" indent="0" marL="0">
              <a:buNone/>
            </a:pPr>
            <a:r>
              <a:rPr lang="ar-SA" altLang="en-US" sz="1600" b="1" dirty="0">
                <a:solidFill>
                  <a:srgbClr val="0E2A32"/>
                </a:solidFill>
                <a:latin typeface="Arial" pitchFamily="34" charset="0"/>
                <a:ea typeface="Arial" pitchFamily="34" charset="-122"/>
                <a:cs typeface="Arial" pitchFamily="34" charset="-120"/>
              </a:rPr>
              <a:t>التعلم المستمر</a:t>
            </a:r>
            <a:endParaRPr lang="ar-SA" sz="1600" dirty="0"/>
          </a:p>
        </p:txBody>
      </p:sp>
      <p:sp>
        <p:nvSpPr>
          <p:cNvPr id="20" name="Text 13"/>
          <p:cNvSpPr/>
          <p:nvPr/>
        </p:nvSpPr>
        <p:spPr>
          <a:xfrm>
            <a:off x="4892040" y="5394960"/>
            <a:ext cx="5745175" cy="603504"/>
          </a:xfrm>
          <a:prstGeom prst="rect">
            <a:avLst/>
          </a:prstGeom>
          <a:noFill/>
          <a:ln/>
        </p:spPr>
        <p:txBody>
          <a:bodyPr wrap="square" rtlCol="0" anchor="ctr"/>
          <a:lstStyle/>
          <a:p>
            <a:pPr rtl="1" algn="r" indent="0" marL="0">
              <a:lnSpc>
                <a:spcPct val="112000"/>
              </a:lnSpc>
              <a:buNone/>
            </a:pPr>
            <a:r>
              <a:rPr lang="ar-SA" altLang="en-US" sz="1250" dirty="0">
                <a:solidFill>
                  <a:srgbClr val="587076"/>
                </a:solidFill>
                <a:latin typeface="Arial" pitchFamily="34" charset="0"/>
                <a:ea typeface="Arial" pitchFamily="34" charset="-122"/>
                <a:cs typeface="Arial" pitchFamily="34" charset="-120"/>
              </a:rPr>
              <a:t>التقنية تتغير كل عام — من يستمر في التعلم يبقى في المقدمة.</a:t>
            </a:r>
            <a:endParaRPr lang="ar-SA" sz="1250" dirty="0"/>
          </a:p>
        </p:txBody>
      </p:sp>
      <p:sp>
        <p:nvSpPr>
          <p:cNvPr id="21" name="Shape 14"/>
          <p:cNvSpPr/>
          <p:nvPr/>
        </p:nvSpPr>
        <p:spPr>
          <a:xfrm>
            <a:off x="548640" y="1554480"/>
            <a:ext cx="3977640" cy="4480560"/>
          </a:xfrm>
          <a:prstGeom prst="roundRect">
            <a:avLst>
              <a:gd name="adj" fmla="val 3218"/>
            </a:avLst>
          </a:prstGeom>
          <a:solidFill>
            <a:srgbClr val="0E2A32"/>
          </a:solidFill>
          <a:ln/>
          <a:effectLst>
            <a:outerShdw sx="100000" sy="100000" kx="0" ky="0" algn="bl" rotWithShape="0" blurRad="88900" dist="25400" dir="5400000">
              <a:srgbClr val="0E2A32">
                <a:alpha val="16000"/>
              </a:srgbClr>
            </a:outerShdw>
          </a:effectLst>
        </p:spPr>
      </p:sp>
      <p:sp>
        <p:nvSpPr>
          <p:cNvPr id="22" name="Shape 15"/>
          <p:cNvSpPr/>
          <p:nvPr/>
        </p:nvSpPr>
        <p:spPr>
          <a:xfrm>
            <a:off x="2153412" y="1828800"/>
            <a:ext cx="768096" cy="768096"/>
          </a:xfrm>
          <a:prstGeom prst="ellipse">
            <a:avLst/>
          </a:prstGeom>
          <a:solidFill>
            <a:srgbClr val="02C39A"/>
          </a:solidFill>
          <a:ln/>
        </p:spPr>
      </p:sp>
      <p:pic>
        <p:nvPicPr>
          <p:cNvPr id="23" name="Image 5" descr="preencoded.png">    </p:cNvPr>
          <p:cNvPicPr>
            <a:picLocks noChangeAspect="1"/>
          </p:cNvPicPr>
          <p:nvPr/>
        </p:nvPicPr>
        <p:blipFill>
          <a:blip r:embed="rId6"/>
          <a:stretch>
            <a:fillRect/>
          </a:stretch>
        </p:blipFill>
        <p:spPr>
          <a:xfrm>
            <a:off x="2353117" y="2028505"/>
            <a:ext cx="368686" cy="368686"/>
          </a:xfrm>
          <a:prstGeom prst="rect">
            <a:avLst/>
          </a:prstGeom>
        </p:spPr>
      </p:pic>
      <p:sp>
        <p:nvSpPr>
          <p:cNvPr id="24" name="Text 16"/>
          <p:cNvSpPr/>
          <p:nvPr/>
        </p:nvSpPr>
        <p:spPr>
          <a:xfrm>
            <a:off x="777240" y="2697480"/>
            <a:ext cx="3520440" cy="457200"/>
          </a:xfrm>
          <a:prstGeom prst="rect">
            <a:avLst/>
          </a:prstGeom>
          <a:noFill/>
          <a:ln/>
        </p:spPr>
        <p:txBody>
          <a:bodyPr wrap="square" rtlCol="0" anchor="ctr"/>
          <a:lstStyle/>
          <a:p>
            <a:pPr rtl="1" algn="ctr" indent="0" marL="0">
              <a:buNone/>
            </a:pPr>
            <a:r>
              <a:rPr lang="ar-SA" altLang="en-US" sz="1650" b="1" dirty="0">
                <a:solidFill>
                  <a:srgbClr val="FFFFFF"/>
                </a:solidFill>
                <a:latin typeface="Arial" pitchFamily="34" charset="0"/>
                <a:ea typeface="Arial" pitchFamily="34" charset="-122"/>
                <a:cs typeface="Arial" pitchFamily="34" charset="-120"/>
              </a:rPr>
              <a:t>وظائف يفتحها هذا المجال</a:t>
            </a:r>
            <a:endParaRPr lang="ar-SA" sz="1650" dirty="0"/>
          </a:p>
        </p:txBody>
      </p:sp>
      <p:sp>
        <p:nvSpPr>
          <p:cNvPr id="25" name="Shape 17"/>
          <p:cNvSpPr/>
          <p:nvPr/>
        </p:nvSpPr>
        <p:spPr>
          <a:xfrm>
            <a:off x="4050792" y="3374136"/>
            <a:ext cx="128016" cy="128016"/>
          </a:xfrm>
          <a:prstGeom prst="ellipse">
            <a:avLst/>
          </a:prstGeom>
          <a:solidFill>
            <a:srgbClr val="02C39A"/>
          </a:solidFill>
          <a:ln/>
        </p:spPr>
      </p:sp>
      <p:sp>
        <p:nvSpPr>
          <p:cNvPr id="26" name="Text 18"/>
          <p:cNvSpPr/>
          <p:nvPr/>
        </p:nvSpPr>
        <p:spPr>
          <a:xfrm>
            <a:off x="777240" y="3291840"/>
            <a:ext cx="3108960" cy="512064"/>
          </a:xfrm>
          <a:prstGeom prst="rect">
            <a:avLst/>
          </a:prstGeom>
          <a:noFill/>
          <a:ln/>
        </p:spPr>
        <p:txBody>
          <a:bodyPr wrap="square" rtlCol="0" anchor="t"/>
          <a:lstStyle/>
          <a:p>
            <a:pPr rtl="1" algn="r" indent="0" marL="0">
              <a:lnSpc>
                <a:spcPct val="105000"/>
              </a:lnSpc>
              <a:buNone/>
            </a:pPr>
            <a:r>
              <a:rPr lang="ar-SA" altLang="en-US" sz="1250" dirty="0">
                <a:solidFill>
                  <a:srgbClr val="CDE9E5"/>
                </a:solidFill>
                <a:latin typeface="Arial" pitchFamily="34" charset="0"/>
                <a:ea typeface="Arial" pitchFamily="34" charset="-122"/>
                <a:cs typeface="Arial" pitchFamily="34" charset="-120"/>
              </a:rPr>
              <a:t>مهندس تعلم آلة</a:t>
            </a:r>
            <a:endParaRPr lang="ar-SA" sz="1250" dirty="0"/>
          </a:p>
        </p:txBody>
      </p:sp>
      <p:sp>
        <p:nvSpPr>
          <p:cNvPr id="27" name="Shape 19"/>
          <p:cNvSpPr/>
          <p:nvPr/>
        </p:nvSpPr>
        <p:spPr>
          <a:xfrm>
            <a:off x="4050792" y="3904488"/>
            <a:ext cx="128016" cy="128016"/>
          </a:xfrm>
          <a:prstGeom prst="ellipse">
            <a:avLst/>
          </a:prstGeom>
          <a:solidFill>
            <a:srgbClr val="02C39A"/>
          </a:solidFill>
          <a:ln/>
        </p:spPr>
      </p:sp>
      <p:sp>
        <p:nvSpPr>
          <p:cNvPr id="28" name="Text 20"/>
          <p:cNvSpPr/>
          <p:nvPr/>
        </p:nvSpPr>
        <p:spPr>
          <a:xfrm>
            <a:off x="777240" y="3822192"/>
            <a:ext cx="3108960" cy="512064"/>
          </a:xfrm>
          <a:prstGeom prst="rect">
            <a:avLst/>
          </a:prstGeom>
          <a:noFill/>
          <a:ln/>
        </p:spPr>
        <p:txBody>
          <a:bodyPr wrap="square" rtlCol="0" anchor="t"/>
          <a:lstStyle/>
          <a:p>
            <a:pPr rtl="1" algn="r" indent="0" marL="0">
              <a:lnSpc>
                <a:spcPct val="105000"/>
              </a:lnSpc>
              <a:buNone/>
            </a:pPr>
            <a:r>
              <a:rPr lang="ar-SA" altLang="en-US" sz="1250" dirty="0">
                <a:solidFill>
                  <a:srgbClr val="CDE9E5"/>
                </a:solidFill>
                <a:latin typeface="Arial" pitchFamily="34" charset="0"/>
                <a:ea typeface="Arial" pitchFamily="34" charset="-122"/>
                <a:cs typeface="Arial" pitchFamily="34" charset="-120"/>
              </a:rPr>
              <a:t>محلل وعالم بيانات</a:t>
            </a:r>
            <a:endParaRPr lang="ar-SA" sz="1250" dirty="0"/>
          </a:p>
        </p:txBody>
      </p:sp>
      <p:sp>
        <p:nvSpPr>
          <p:cNvPr id="29" name="Shape 21"/>
          <p:cNvSpPr/>
          <p:nvPr/>
        </p:nvSpPr>
        <p:spPr>
          <a:xfrm>
            <a:off x="4050792" y="4434840"/>
            <a:ext cx="128016" cy="128016"/>
          </a:xfrm>
          <a:prstGeom prst="ellipse">
            <a:avLst/>
          </a:prstGeom>
          <a:solidFill>
            <a:srgbClr val="02C39A"/>
          </a:solidFill>
          <a:ln/>
        </p:spPr>
      </p:sp>
      <p:sp>
        <p:nvSpPr>
          <p:cNvPr id="30" name="Text 22"/>
          <p:cNvSpPr/>
          <p:nvPr/>
        </p:nvSpPr>
        <p:spPr>
          <a:xfrm>
            <a:off x="777240" y="4352544"/>
            <a:ext cx="3108960" cy="512064"/>
          </a:xfrm>
          <a:prstGeom prst="rect">
            <a:avLst/>
          </a:prstGeom>
          <a:noFill/>
          <a:ln/>
        </p:spPr>
        <p:txBody>
          <a:bodyPr wrap="square" rtlCol="0" anchor="t"/>
          <a:lstStyle/>
          <a:p>
            <a:pPr rtl="1" algn="r" indent="0" marL="0">
              <a:lnSpc>
                <a:spcPct val="105000"/>
              </a:lnSpc>
              <a:buNone/>
            </a:pPr>
            <a:r>
              <a:rPr lang="ar-SA" altLang="en-US" sz="1250" dirty="0">
                <a:solidFill>
                  <a:srgbClr val="CDE9E5"/>
                </a:solidFill>
                <a:latin typeface="Arial" pitchFamily="34" charset="0"/>
                <a:ea typeface="Arial" pitchFamily="34" charset="-122"/>
                <a:cs typeface="Arial" pitchFamily="34" charset="-120"/>
              </a:rPr>
              <a:t>مختص أخلاقيات الذكاء الاصطناعي</a:t>
            </a:r>
            <a:endParaRPr lang="ar-SA" sz="1250" dirty="0"/>
          </a:p>
        </p:txBody>
      </p:sp>
      <p:sp>
        <p:nvSpPr>
          <p:cNvPr id="31" name="Shape 23"/>
          <p:cNvSpPr/>
          <p:nvPr/>
        </p:nvSpPr>
        <p:spPr>
          <a:xfrm>
            <a:off x="4050792" y="4965192"/>
            <a:ext cx="128016" cy="128016"/>
          </a:xfrm>
          <a:prstGeom prst="ellipse">
            <a:avLst/>
          </a:prstGeom>
          <a:solidFill>
            <a:srgbClr val="02C39A"/>
          </a:solidFill>
          <a:ln/>
        </p:spPr>
      </p:sp>
      <p:sp>
        <p:nvSpPr>
          <p:cNvPr id="32" name="Text 24"/>
          <p:cNvSpPr/>
          <p:nvPr/>
        </p:nvSpPr>
        <p:spPr>
          <a:xfrm>
            <a:off x="777240" y="4882896"/>
            <a:ext cx="3108960" cy="512064"/>
          </a:xfrm>
          <a:prstGeom prst="rect">
            <a:avLst/>
          </a:prstGeom>
          <a:noFill/>
          <a:ln/>
        </p:spPr>
        <p:txBody>
          <a:bodyPr wrap="square" rtlCol="0" anchor="t"/>
          <a:lstStyle/>
          <a:p>
            <a:pPr rtl="1" algn="r" indent="0" marL="0">
              <a:lnSpc>
                <a:spcPct val="105000"/>
              </a:lnSpc>
              <a:buNone/>
            </a:pPr>
            <a:r>
              <a:rPr lang="ar-SA" altLang="en-US" sz="1250" dirty="0">
                <a:solidFill>
                  <a:srgbClr val="CDE9E5"/>
                </a:solidFill>
                <a:latin typeface="Arial" pitchFamily="34" charset="0"/>
                <a:ea typeface="Arial" pitchFamily="34" charset="-122"/>
                <a:cs typeface="Arial" pitchFamily="34" charset="-120"/>
              </a:rPr>
              <a:t>مطور تطبيقات ذكية</a:t>
            </a:r>
            <a:endParaRPr lang="ar-SA" sz="1250" dirty="0"/>
          </a:p>
        </p:txBody>
      </p:sp>
      <p:sp>
        <p:nvSpPr>
          <p:cNvPr id="33" name="Shape 25"/>
          <p:cNvSpPr/>
          <p:nvPr/>
        </p:nvSpPr>
        <p:spPr>
          <a:xfrm>
            <a:off x="4050792" y="5495544"/>
            <a:ext cx="128016" cy="128016"/>
          </a:xfrm>
          <a:prstGeom prst="ellipse">
            <a:avLst/>
          </a:prstGeom>
          <a:solidFill>
            <a:srgbClr val="02C39A"/>
          </a:solidFill>
          <a:ln/>
        </p:spPr>
      </p:sp>
      <p:sp>
        <p:nvSpPr>
          <p:cNvPr id="34" name="Text 26"/>
          <p:cNvSpPr/>
          <p:nvPr/>
        </p:nvSpPr>
        <p:spPr>
          <a:xfrm>
            <a:off x="777240" y="5413248"/>
            <a:ext cx="3108960" cy="512064"/>
          </a:xfrm>
          <a:prstGeom prst="rect">
            <a:avLst/>
          </a:prstGeom>
          <a:noFill/>
          <a:ln/>
        </p:spPr>
        <p:txBody>
          <a:bodyPr wrap="square" rtlCol="0" anchor="t"/>
          <a:lstStyle/>
          <a:p>
            <a:pPr rtl="1" algn="r" indent="0" marL="0">
              <a:lnSpc>
                <a:spcPct val="105000"/>
              </a:lnSpc>
              <a:buNone/>
            </a:pPr>
            <a:r>
              <a:rPr lang="ar-SA" altLang="en-US" sz="1250" dirty="0">
                <a:solidFill>
                  <a:srgbClr val="CDE9E5"/>
                </a:solidFill>
                <a:latin typeface="Arial" pitchFamily="34" charset="0"/>
                <a:ea typeface="Arial" pitchFamily="34" charset="-122"/>
                <a:cs typeface="Arial" pitchFamily="34" charset="-120"/>
              </a:rPr>
              <a:t>وكل تخصص + ذكاء اصطناعي: طب، قانون، تعليم، إعلام…</a:t>
            </a:r>
            <a:endParaRPr lang="ar-SA"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2A32"/>
        </a:solidFill>
      </p:bgPr>
    </p:bg>
    <p:spTree>
      <p:nvGrpSpPr>
        <p:cNvPr id="1" name=""/>
        <p:cNvGrpSpPr/>
        <p:nvPr/>
      </p:nvGrpSpPr>
      <p:grpSpPr>
        <a:xfrm>
          <a:off x="0" y="0"/>
          <a:ext cx="0" cy="0"/>
          <a:chOff x="0" y="0"/>
          <a:chExt cx="0" cy="0"/>
        </a:xfrm>
      </p:grpSpPr>
      <p:sp>
        <p:nvSpPr>
          <p:cNvPr id="2" name="Text 0"/>
          <p:cNvSpPr/>
          <p:nvPr/>
        </p:nvSpPr>
        <p:spPr>
          <a:xfrm>
            <a:off x="548640" y="548640"/>
            <a:ext cx="11094415" cy="731520"/>
          </a:xfrm>
          <a:prstGeom prst="rect">
            <a:avLst/>
          </a:prstGeom>
          <a:noFill/>
          <a:ln/>
        </p:spPr>
        <p:txBody>
          <a:bodyPr wrap="square" rtlCol="0" anchor="ctr"/>
          <a:lstStyle/>
          <a:p>
            <a:pPr rtl="1" algn="ctr" indent="0" marL="0">
              <a:buNone/>
            </a:pPr>
            <a:r>
              <a:rPr lang="ar-SA" altLang="en-US" sz="3400" b="1" dirty="0">
                <a:solidFill>
                  <a:srgbClr val="FFFFFF"/>
                </a:solidFill>
                <a:latin typeface="Arial" pitchFamily="34" charset="0"/>
                <a:ea typeface="Arial" pitchFamily="34" charset="-122"/>
                <a:cs typeface="Arial" pitchFamily="34" charset="-120"/>
              </a:rPr>
              <a:t>ثلاث رسائل تأخذها معك</a:t>
            </a:r>
            <a:endParaRPr lang="ar-SA" sz="3400" dirty="0"/>
          </a:p>
        </p:txBody>
      </p:sp>
      <p:sp>
        <p:nvSpPr>
          <p:cNvPr id="3" name="Shape 1"/>
          <p:cNvSpPr/>
          <p:nvPr/>
        </p:nvSpPr>
        <p:spPr>
          <a:xfrm>
            <a:off x="8198968" y="1691640"/>
            <a:ext cx="3566160" cy="2286000"/>
          </a:xfrm>
          <a:prstGeom prst="roundRect">
            <a:avLst>
              <a:gd name="adj" fmla="val 5600"/>
            </a:avLst>
          </a:prstGeom>
          <a:solidFill>
            <a:srgbClr val="143C46"/>
          </a:solidFill>
          <a:ln w="12700">
            <a:solidFill>
              <a:srgbClr val="028090"/>
            </a:solidFill>
            <a:prstDash val="solid"/>
          </a:ln>
        </p:spPr>
      </p:sp>
      <p:sp>
        <p:nvSpPr>
          <p:cNvPr id="4" name="Shape 2"/>
          <p:cNvSpPr/>
          <p:nvPr/>
        </p:nvSpPr>
        <p:spPr>
          <a:xfrm>
            <a:off x="9616288" y="1965960"/>
            <a:ext cx="731520" cy="731520"/>
          </a:xfrm>
          <a:prstGeom prst="ellipse">
            <a:avLst/>
          </a:prstGeom>
          <a:solidFill>
            <a:srgbClr val="02C39A"/>
          </a:solidFill>
          <a:ln/>
        </p:spPr>
      </p:sp>
      <p:sp>
        <p:nvSpPr>
          <p:cNvPr id="5" name="Text 3"/>
          <p:cNvSpPr/>
          <p:nvPr/>
        </p:nvSpPr>
        <p:spPr>
          <a:xfrm>
            <a:off x="9616288" y="1965960"/>
            <a:ext cx="731520" cy="731520"/>
          </a:xfrm>
          <a:prstGeom prst="rect">
            <a:avLst/>
          </a:prstGeom>
          <a:noFill/>
          <a:ln/>
        </p:spPr>
        <p:txBody>
          <a:bodyPr wrap="square" lIns="0" tIns="0" rIns="0" bIns="0" rtlCol="0" anchor="ctr"/>
          <a:lstStyle/>
          <a:p>
            <a:pPr rtl="1" algn="ctr" indent="0" marL="0">
              <a:buNone/>
            </a:pPr>
            <a:r>
              <a:rPr lang="ar-SA" altLang="en-US" sz="2600" b="1" dirty="0">
                <a:solidFill>
                  <a:srgbClr val="0E2A32"/>
                </a:solidFill>
                <a:latin typeface="Arial" pitchFamily="34" charset="0"/>
                <a:ea typeface="Arial" pitchFamily="34" charset="-122"/>
                <a:cs typeface="Arial" pitchFamily="34" charset="-120"/>
              </a:rPr>
              <a:t>1</a:t>
            </a:r>
            <a:endParaRPr lang="ar-SA" sz="2600" dirty="0"/>
          </a:p>
        </p:txBody>
      </p:sp>
      <p:sp>
        <p:nvSpPr>
          <p:cNvPr id="6" name="Text 4"/>
          <p:cNvSpPr/>
          <p:nvPr/>
        </p:nvSpPr>
        <p:spPr>
          <a:xfrm>
            <a:off x="8381848" y="2834640"/>
            <a:ext cx="3200400" cy="411480"/>
          </a:xfrm>
          <a:prstGeom prst="rect">
            <a:avLst/>
          </a:prstGeom>
          <a:noFill/>
          <a:ln/>
        </p:spPr>
        <p:txBody>
          <a:bodyPr wrap="square" rtlCol="0" anchor="ctr"/>
          <a:lstStyle/>
          <a:p>
            <a:pPr rtl="1" algn="ctr" indent="0" marL="0">
              <a:buNone/>
            </a:pPr>
            <a:r>
              <a:rPr lang="ar-SA" altLang="en-US" sz="1700" b="1" dirty="0">
                <a:solidFill>
                  <a:srgbClr val="FFFFFF"/>
                </a:solidFill>
                <a:latin typeface="Arial" pitchFamily="34" charset="0"/>
                <a:ea typeface="Arial" pitchFamily="34" charset="-122"/>
                <a:cs typeface="Arial" pitchFamily="34" charset="-120"/>
              </a:rPr>
              <a:t>إنه حولك بالفعل</a:t>
            </a:r>
            <a:endParaRPr lang="ar-SA" sz="1700" dirty="0"/>
          </a:p>
        </p:txBody>
      </p:sp>
      <p:sp>
        <p:nvSpPr>
          <p:cNvPr id="7" name="Text 5"/>
          <p:cNvSpPr/>
          <p:nvPr/>
        </p:nvSpPr>
        <p:spPr>
          <a:xfrm>
            <a:off x="8473288" y="3264408"/>
            <a:ext cx="3017520" cy="640080"/>
          </a:xfrm>
          <a:prstGeom prst="rect">
            <a:avLst/>
          </a:prstGeom>
          <a:noFill/>
          <a:ln/>
        </p:spPr>
        <p:txBody>
          <a:bodyPr wrap="square" rtlCol="0" anchor="ctr"/>
          <a:lstStyle/>
          <a:p>
            <a:pPr rtl="1" algn="ctr" indent="0" marL="0">
              <a:lnSpc>
                <a:spcPct val="115000"/>
              </a:lnSpc>
              <a:buNone/>
            </a:pPr>
            <a:r>
              <a:rPr lang="ar-SA" altLang="en-US" sz="1250" dirty="0">
                <a:solidFill>
                  <a:srgbClr val="CDE9E5"/>
                </a:solidFill>
                <a:latin typeface="Arial" pitchFamily="34" charset="0"/>
                <a:ea typeface="Arial" pitchFamily="34" charset="-122"/>
                <a:cs typeface="Arial" pitchFamily="34" charset="-120"/>
              </a:rPr>
              <a:t>من هاتفك إلى مستشفاك — تعرف عليه لتفهم عالمك</a:t>
            </a:r>
            <a:endParaRPr lang="ar-SA" sz="1250" dirty="0"/>
          </a:p>
        </p:txBody>
      </p:sp>
      <p:sp>
        <p:nvSpPr>
          <p:cNvPr id="8" name="Shape 6"/>
          <p:cNvSpPr/>
          <p:nvPr/>
        </p:nvSpPr>
        <p:spPr>
          <a:xfrm>
            <a:off x="4312768" y="1691640"/>
            <a:ext cx="3566160" cy="2286000"/>
          </a:xfrm>
          <a:prstGeom prst="roundRect">
            <a:avLst>
              <a:gd name="adj" fmla="val 5600"/>
            </a:avLst>
          </a:prstGeom>
          <a:solidFill>
            <a:srgbClr val="143C46"/>
          </a:solidFill>
          <a:ln w="12700">
            <a:solidFill>
              <a:srgbClr val="028090"/>
            </a:solidFill>
            <a:prstDash val="solid"/>
          </a:ln>
        </p:spPr>
      </p:sp>
      <p:sp>
        <p:nvSpPr>
          <p:cNvPr id="9" name="Shape 7"/>
          <p:cNvSpPr/>
          <p:nvPr/>
        </p:nvSpPr>
        <p:spPr>
          <a:xfrm>
            <a:off x="5730088" y="1965960"/>
            <a:ext cx="731520" cy="731520"/>
          </a:xfrm>
          <a:prstGeom prst="ellipse">
            <a:avLst/>
          </a:prstGeom>
          <a:solidFill>
            <a:srgbClr val="02C39A"/>
          </a:solidFill>
          <a:ln/>
        </p:spPr>
      </p:sp>
      <p:sp>
        <p:nvSpPr>
          <p:cNvPr id="10" name="Text 8"/>
          <p:cNvSpPr/>
          <p:nvPr/>
        </p:nvSpPr>
        <p:spPr>
          <a:xfrm>
            <a:off x="5730088" y="1965960"/>
            <a:ext cx="731520" cy="731520"/>
          </a:xfrm>
          <a:prstGeom prst="rect">
            <a:avLst/>
          </a:prstGeom>
          <a:noFill/>
          <a:ln/>
        </p:spPr>
        <p:txBody>
          <a:bodyPr wrap="square" lIns="0" tIns="0" rIns="0" bIns="0" rtlCol="0" anchor="ctr"/>
          <a:lstStyle/>
          <a:p>
            <a:pPr rtl="1" algn="ctr" indent="0" marL="0">
              <a:buNone/>
            </a:pPr>
            <a:r>
              <a:rPr lang="ar-SA" altLang="en-US" sz="2600" b="1" dirty="0">
                <a:solidFill>
                  <a:srgbClr val="0E2A32"/>
                </a:solidFill>
                <a:latin typeface="Arial" pitchFamily="34" charset="0"/>
                <a:ea typeface="Arial" pitchFamily="34" charset="-122"/>
                <a:cs typeface="Arial" pitchFamily="34" charset="-120"/>
              </a:rPr>
              <a:t>2</a:t>
            </a:r>
            <a:endParaRPr lang="ar-SA" sz="2600" dirty="0"/>
          </a:p>
        </p:txBody>
      </p:sp>
      <p:sp>
        <p:nvSpPr>
          <p:cNvPr id="11" name="Text 9"/>
          <p:cNvSpPr/>
          <p:nvPr/>
        </p:nvSpPr>
        <p:spPr>
          <a:xfrm>
            <a:off x="4495648" y="2834640"/>
            <a:ext cx="3200400" cy="411480"/>
          </a:xfrm>
          <a:prstGeom prst="rect">
            <a:avLst/>
          </a:prstGeom>
          <a:noFill/>
          <a:ln/>
        </p:spPr>
        <p:txBody>
          <a:bodyPr wrap="square" rtlCol="0" anchor="ctr"/>
          <a:lstStyle/>
          <a:p>
            <a:pPr rtl="1" algn="ctr" indent="0" marL="0">
              <a:buNone/>
            </a:pPr>
            <a:r>
              <a:rPr lang="ar-SA" altLang="en-US" sz="1700" b="1" dirty="0">
                <a:solidFill>
                  <a:srgbClr val="FFFFFF"/>
                </a:solidFill>
                <a:latin typeface="Arial" pitchFamily="34" charset="0"/>
                <a:ea typeface="Arial" pitchFamily="34" charset="-122"/>
                <a:cs typeface="Arial" pitchFamily="34" charset="-120"/>
              </a:rPr>
              <a:t>إنه أداة</a:t>
            </a:r>
            <a:endParaRPr lang="ar-SA" sz="1700" dirty="0"/>
          </a:p>
        </p:txBody>
      </p:sp>
      <p:sp>
        <p:nvSpPr>
          <p:cNvPr id="12" name="Text 10"/>
          <p:cNvSpPr/>
          <p:nvPr/>
        </p:nvSpPr>
        <p:spPr>
          <a:xfrm>
            <a:off x="4587088" y="3264408"/>
            <a:ext cx="3017520" cy="640080"/>
          </a:xfrm>
          <a:prstGeom prst="rect">
            <a:avLst/>
          </a:prstGeom>
          <a:noFill/>
          <a:ln/>
        </p:spPr>
        <p:txBody>
          <a:bodyPr wrap="square" rtlCol="0" anchor="ctr"/>
          <a:lstStyle/>
          <a:p>
            <a:pPr rtl="1" algn="ctr" indent="0" marL="0">
              <a:lnSpc>
                <a:spcPct val="115000"/>
              </a:lnSpc>
              <a:buNone/>
            </a:pPr>
            <a:r>
              <a:rPr lang="ar-SA" altLang="en-US" sz="1250" dirty="0">
                <a:solidFill>
                  <a:srgbClr val="CDE9E5"/>
                </a:solidFill>
                <a:latin typeface="Arial" pitchFamily="34" charset="0"/>
                <a:ea typeface="Arial" pitchFamily="34" charset="-122"/>
                <a:cs typeface="Arial" pitchFamily="34" charset="-120"/>
              </a:rPr>
              <a:t>قيمتها في يد من يستخدمها بوعي ونقد ومسؤولية</a:t>
            </a:r>
            <a:endParaRPr lang="ar-SA" sz="1250" dirty="0"/>
          </a:p>
        </p:txBody>
      </p:sp>
      <p:sp>
        <p:nvSpPr>
          <p:cNvPr id="13" name="Shape 11"/>
          <p:cNvSpPr/>
          <p:nvPr/>
        </p:nvSpPr>
        <p:spPr>
          <a:xfrm>
            <a:off x="426568" y="1691640"/>
            <a:ext cx="3566160" cy="2286000"/>
          </a:xfrm>
          <a:prstGeom prst="roundRect">
            <a:avLst>
              <a:gd name="adj" fmla="val 5600"/>
            </a:avLst>
          </a:prstGeom>
          <a:solidFill>
            <a:srgbClr val="143C46"/>
          </a:solidFill>
          <a:ln w="12700">
            <a:solidFill>
              <a:srgbClr val="028090"/>
            </a:solidFill>
            <a:prstDash val="solid"/>
          </a:ln>
        </p:spPr>
      </p:sp>
      <p:sp>
        <p:nvSpPr>
          <p:cNvPr id="14" name="Shape 12"/>
          <p:cNvSpPr/>
          <p:nvPr/>
        </p:nvSpPr>
        <p:spPr>
          <a:xfrm>
            <a:off x="1843888" y="1965960"/>
            <a:ext cx="731520" cy="731520"/>
          </a:xfrm>
          <a:prstGeom prst="ellipse">
            <a:avLst/>
          </a:prstGeom>
          <a:solidFill>
            <a:srgbClr val="02C39A"/>
          </a:solidFill>
          <a:ln/>
        </p:spPr>
      </p:sp>
      <p:sp>
        <p:nvSpPr>
          <p:cNvPr id="15" name="Text 13"/>
          <p:cNvSpPr/>
          <p:nvPr/>
        </p:nvSpPr>
        <p:spPr>
          <a:xfrm>
            <a:off x="1843888" y="1965960"/>
            <a:ext cx="731520" cy="731520"/>
          </a:xfrm>
          <a:prstGeom prst="rect">
            <a:avLst/>
          </a:prstGeom>
          <a:noFill/>
          <a:ln/>
        </p:spPr>
        <p:txBody>
          <a:bodyPr wrap="square" lIns="0" tIns="0" rIns="0" bIns="0" rtlCol="0" anchor="ctr"/>
          <a:lstStyle/>
          <a:p>
            <a:pPr rtl="1" algn="ctr" indent="0" marL="0">
              <a:buNone/>
            </a:pPr>
            <a:r>
              <a:rPr lang="ar-SA" altLang="en-US" sz="2600" b="1" dirty="0">
                <a:solidFill>
                  <a:srgbClr val="0E2A32"/>
                </a:solidFill>
                <a:latin typeface="Arial" pitchFamily="34" charset="0"/>
                <a:ea typeface="Arial" pitchFamily="34" charset="-122"/>
                <a:cs typeface="Arial" pitchFamily="34" charset="-120"/>
              </a:rPr>
              <a:t>3</a:t>
            </a:r>
            <a:endParaRPr lang="ar-SA" sz="2600" dirty="0"/>
          </a:p>
        </p:txBody>
      </p:sp>
      <p:sp>
        <p:nvSpPr>
          <p:cNvPr id="16" name="Text 14"/>
          <p:cNvSpPr/>
          <p:nvPr/>
        </p:nvSpPr>
        <p:spPr>
          <a:xfrm>
            <a:off x="609448" y="2834640"/>
            <a:ext cx="3200400" cy="411480"/>
          </a:xfrm>
          <a:prstGeom prst="rect">
            <a:avLst/>
          </a:prstGeom>
          <a:noFill/>
          <a:ln/>
        </p:spPr>
        <p:txBody>
          <a:bodyPr wrap="square" rtlCol="0" anchor="ctr"/>
          <a:lstStyle/>
          <a:p>
            <a:pPr rtl="1" algn="ctr" indent="0" marL="0">
              <a:buNone/>
            </a:pPr>
            <a:r>
              <a:rPr lang="ar-SA" altLang="en-US" sz="1700" b="1" dirty="0">
                <a:solidFill>
                  <a:srgbClr val="FFFFFF"/>
                </a:solidFill>
                <a:latin typeface="Arial" pitchFamily="34" charset="0"/>
                <a:ea typeface="Arial" pitchFamily="34" charset="-122"/>
                <a:cs typeface="Arial" pitchFamily="34" charset="-120"/>
              </a:rPr>
              <a:t>إنه فرصتك</a:t>
            </a:r>
            <a:endParaRPr lang="ar-SA" sz="1700" dirty="0"/>
          </a:p>
        </p:txBody>
      </p:sp>
      <p:sp>
        <p:nvSpPr>
          <p:cNvPr id="17" name="Text 15"/>
          <p:cNvSpPr/>
          <p:nvPr/>
        </p:nvSpPr>
        <p:spPr>
          <a:xfrm>
            <a:off x="700888" y="3264408"/>
            <a:ext cx="3017520" cy="640080"/>
          </a:xfrm>
          <a:prstGeom prst="rect">
            <a:avLst/>
          </a:prstGeom>
          <a:noFill/>
          <a:ln/>
        </p:spPr>
        <p:txBody>
          <a:bodyPr wrap="square" rtlCol="0" anchor="ctr"/>
          <a:lstStyle/>
          <a:p>
            <a:pPr rtl="1" algn="ctr" indent="0" marL="0">
              <a:lnSpc>
                <a:spcPct val="115000"/>
              </a:lnSpc>
              <a:buNone/>
            </a:pPr>
            <a:r>
              <a:rPr lang="ar-SA" altLang="en-US" sz="1250" dirty="0">
                <a:solidFill>
                  <a:srgbClr val="CDE9E5"/>
                </a:solidFill>
                <a:latin typeface="Arial" pitchFamily="34" charset="0"/>
                <a:ea typeface="Arial" pitchFamily="34" charset="-122"/>
                <a:cs typeface="Arial" pitchFamily="34" charset="-120"/>
              </a:rPr>
              <a:t>تعلم مهاراته اليوم مهما كان تخصصك غداً</a:t>
            </a:r>
            <a:endParaRPr lang="ar-SA" sz="1250" dirty="0"/>
          </a:p>
        </p:txBody>
      </p:sp>
      <p:sp>
        <p:nvSpPr>
          <p:cNvPr id="18" name="Text 16"/>
          <p:cNvSpPr/>
          <p:nvPr/>
        </p:nvSpPr>
        <p:spPr>
          <a:xfrm>
            <a:off x="548640" y="4434840"/>
            <a:ext cx="11094415" cy="548640"/>
          </a:xfrm>
          <a:prstGeom prst="rect">
            <a:avLst/>
          </a:prstGeom>
          <a:noFill/>
          <a:ln/>
        </p:spPr>
        <p:txBody>
          <a:bodyPr wrap="square" rtlCol="0" anchor="ctr"/>
          <a:lstStyle/>
          <a:p>
            <a:pPr rtl="1" algn="ctr" indent="0" marL="0">
              <a:buNone/>
            </a:pPr>
            <a:r>
              <a:rPr lang="ar-SA" altLang="en-US" sz="1800" i="1" dirty="0">
                <a:solidFill>
                  <a:srgbClr val="02C39A"/>
                </a:solidFill>
                <a:latin typeface="Arial" pitchFamily="34" charset="0"/>
                <a:ea typeface="Arial" pitchFamily="34" charset="-122"/>
                <a:cs typeface="Arial" pitchFamily="34" charset="-120"/>
              </a:rPr>
              <a:t>«لن يأخذ الذكاء الاصطناعي وظيفتك… بل سيأخذها شخص يجيد استخدامه»</a:t>
            </a:r>
            <a:endParaRPr lang="ar-SA" sz="1800" dirty="0"/>
          </a:p>
        </p:txBody>
      </p:sp>
      <p:sp>
        <p:nvSpPr>
          <p:cNvPr id="19" name="Text 17"/>
          <p:cNvSpPr/>
          <p:nvPr/>
        </p:nvSpPr>
        <p:spPr>
          <a:xfrm>
            <a:off x="548640" y="5349240"/>
            <a:ext cx="11094415" cy="640080"/>
          </a:xfrm>
          <a:prstGeom prst="rect">
            <a:avLst/>
          </a:prstGeom>
          <a:noFill/>
          <a:ln/>
        </p:spPr>
        <p:txBody>
          <a:bodyPr wrap="square" rtlCol="0" anchor="ctr"/>
          <a:lstStyle/>
          <a:p>
            <a:pPr rtl="1" algn="ctr" indent="0" marL="0">
              <a:buNone/>
            </a:pPr>
            <a:r>
              <a:rPr lang="ar-SA" altLang="en-US" sz="2800" b="1" dirty="0">
                <a:solidFill>
                  <a:srgbClr val="FFFFFF"/>
                </a:solidFill>
                <a:latin typeface="Arial" pitchFamily="34" charset="0"/>
                <a:ea typeface="Arial" pitchFamily="34" charset="-122"/>
                <a:cs typeface="Arial" pitchFamily="34" charset="-120"/>
              </a:rPr>
              <a:t>شكراً لكم — أسئلة ونقاش؟</a:t>
            </a:r>
            <a:endParaRPr lang="ar-SA"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الذكاء الاصطناعي وتطبيقاته في الحياة اليومية</dc:title>
  <dc:subject>PptxGenJS Presentation</dc:subject>
  <dc:creator>محاضرة تعليمية</dc:creator>
  <cp:lastModifiedBy>محاضرة تعليمية</cp:lastModifiedBy>
  <cp:revision>1</cp:revision>
  <dcterms:created xsi:type="dcterms:W3CDTF">2026-07-27T18:12:09Z</dcterms:created>
  <dcterms:modified xsi:type="dcterms:W3CDTF">2026-07-27T18:12:09Z</dcterms:modified>
</cp:coreProperties>
</file>